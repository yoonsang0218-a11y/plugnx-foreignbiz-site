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2743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맑은 고딕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865815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4000" b="1" i="0">
                <a:solidFill>
                  <a:srgbClr val="1A1A1A"/>
                </a:solidFill>
                <a:latin typeface="맑은 고딕"/>
              </a:rPr>
              <a:t>외국인 신사업 · 추진배경 및 시장분석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10865815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000" b="0" i="0">
                <a:solidFill>
                  <a:srgbClr val="BFBFBF"/>
                </a:solidFill>
                <a:latin typeface="맑은 고딕"/>
              </a:rPr>
              <a:t>체류외국인 278만 시대, ‘채용 이후’를 붙드는 인프라 — PlugNX VisaDesk · BackWon · ForeignID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5760720"/>
            <a:ext cx="5943600" cy="0"/>
          </a:xfrm>
          <a:prstGeom prst="line">
            <a:avLst/>
          </a:prstGeom>
          <a:ln w="12700">
            <a:solidFill>
              <a:srgbClr val="0F1E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897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A1A1A"/>
                </a:solidFill>
                <a:latin typeface="맑은 고딕"/>
              </a:rPr>
              <a:t>PlugNX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904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888888"/>
                </a:solidFill>
                <a:latin typeface="맑은 고딕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외국인 신사업 · 추진배경/시장분석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맑은 고딕"/>
              </a:rPr>
              <a:t>한눈에 — 정주화·구조적 인력난·정책 골든타임의 트리플 추진력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Source: 출처: 법무부 「’25.12 출입국·외국인정책 통계월보」 · 법무부 「2030 이민정책 미래전략」(’26.3) · 중소기업중앙회 「2025 외국인력 고용 종합애로 실태조사」(1,223사) · 고용노동부 E-9 도입쿼터. 비자·정책 수치는 자주 개정되는 참고 정보.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맑은 고딕"/>
              </a:rPr>
              <a:t>ⓒ 2026 PlugNX  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맑은 고딕"/>
              </a:rPr>
              <a:t>시장은 이미 도래했고, 정책 무게는 ‘채용 이후’ 관리·신뢰로 이동 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2705023" cy="448055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2705023" cy="91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2339263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맑은 고딕"/>
              </a:rPr>
              <a:t>체류외국인 (’25.12)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86000"/>
            <a:ext cx="2339263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F1E32"/>
                </a:solidFill>
                <a:latin typeface="맑은 고딕"/>
              </a:rPr>
              <a:t>278만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760720"/>
            <a:ext cx="2339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맑은 고딕"/>
              </a:rPr>
              <a:t>▲ </a:t>
            </a:r>
            <a:r>
              <a:rPr sz="1200" b="1">
                <a:solidFill>
                  <a:srgbClr val="4CAF50"/>
                </a:solidFill>
                <a:latin typeface="맑은 고딕"/>
              </a:rPr>
              <a:t>전년比 +5.0%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16752"/>
            <a:ext cx="233926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2,783,247명 · ’27~’28 300만 돌파 추정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9383" y="1783080"/>
            <a:ext cx="2705023" cy="448055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9383" y="1783080"/>
            <a:ext cx="2705023" cy="91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2263" y="1965960"/>
            <a:ext cx="2339263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맑은 고딕"/>
              </a:rPr>
              <a:t>생산연령인구 감소 (~2030)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2263" y="2286000"/>
            <a:ext cx="2339263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F1E32"/>
                </a:solidFill>
                <a:latin typeface="맑은 고딕"/>
              </a:rPr>
              <a:t>−313만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2263" y="5760720"/>
            <a:ext cx="2339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D70015"/>
                </a:solidFill>
                <a:latin typeface="맑은 고딕"/>
              </a:rPr>
              <a:t>▼ </a:t>
            </a:r>
            <a:r>
              <a:rPr sz="1200" b="1">
                <a:solidFill>
                  <a:srgbClr val="D70015"/>
                </a:solidFill>
                <a:latin typeface="맑은 고딕"/>
              </a:rPr>
              <a:t>구조적 감소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2263" y="6016752"/>
            <a:ext cx="233926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법무부 2030 이민정책 미래전략(통계청 추계)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7287" y="1783080"/>
            <a:ext cx="2705023" cy="448055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7287" y="1783080"/>
            <a:ext cx="2705023" cy="91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167" y="1965960"/>
            <a:ext cx="2339263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맑은 고딕"/>
              </a:rPr>
              <a:t>’30 산업계 부족인력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2286000"/>
            <a:ext cx="2339263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F1E32"/>
                </a:solidFill>
                <a:latin typeface="맑은 고딕"/>
              </a:rPr>
              <a:t>112만+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760720"/>
            <a:ext cx="2339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D70015"/>
                </a:solidFill>
                <a:latin typeface="맑은 고딕"/>
              </a:rPr>
              <a:t>▼ </a:t>
            </a:r>
            <a:r>
              <a:rPr sz="1200" b="1">
                <a:solidFill>
                  <a:srgbClr val="D70015"/>
                </a:solidFill>
                <a:latin typeface="맑은 고딕"/>
              </a:rPr>
              <a:t>최소 부족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6016752"/>
            <a:ext cx="233926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법무부 2030 이민정책 미래전략(’26.3)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75191" y="1783080"/>
            <a:ext cx="2705023" cy="448055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75191" y="1783080"/>
            <a:ext cx="2705023" cy="91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8071" y="1965960"/>
            <a:ext cx="2339263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맑은 고딕"/>
              </a:rPr>
              <a:t>내국인 취업 기피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8071" y="2286000"/>
            <a:ext cx="2339263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F1E32"/>
                </a:solidFill>
                <a:latin typeface="맑은 고딕"/>
              </a:rPr>
              <a:t>92.9%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8071" y="5760720"/>
            <a:ext cx="2339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888888"/>
                </a:solidFill>
                <a:latin typeface="맑은 고딕"/>
              </a:rPr>
              <a:t>▬ </a:t>
            </a:r>
            <a:r>
              <a:rPr sz="1200" b="1">
                <a:solidFill>
                  <a:srgbClr val="888888"/>
                </a:solidFill>
                <a:latin typeface="맑은 고딕"/>
              </a:rPr>
              <a:t>경기 무관 구조 수요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8071" y="6016752"/>
            <a:ext cx="233926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중기중앙회 2025 실태조사(1,223사)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외국인 신사업 · 추진배경/시장분석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맑은 고딕"/>
              </a:rPr>
              <a:t>요약 — 트리플 추진력 × 두 시장 × 경쟁 공백을 PlugNX가 선점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Source: 출처: 법무부 「’25.12 출입국·외국인정책 통계월보」 · 법무부 「2030 이민정책 미래전략」(’26.3) · 중소기업중앙회 「2025 외국인력 고용 종합애로 실태조사」(1,223사) · 고용노동부 E-9 도입쿼터. 비자·정책 수치는 자주 개정되는 참고 정보.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맑은 고딕"/>
              </a:rPr>
              <a:t>ⓒ 2026 PlugNX  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11368735" cy="5074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맑은 고딕"/>
              </a:rPr>
              <a:t>① 시장은 정주화·구조적 인력난·정책 골든타임의 트리플 추진력이 동시에 작동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2030년까지 생산연령인구 −313만, 산업계 최소 112만 부족 → 외국인력은 ‘필수 인프라’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내국인 취업 기피 92.9%·구인난 82.6% — 인건비(13.4%)가 아닌 경기 무관 구조 수요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유학 +17.1%·영주 +8.9% → 노동력에서 소비·금융 고객으로 시장의 ‘질’이 이동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맑은 고딕"/>
              </a:rPr>
              <a:t>② 278만은 B2C 216만(사람)과 B2B 49만(사업장) 두 시장으로 갈라짐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B2C TAM = 장기체류 216만(환급·금융·관리 대상)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B2B TAM = E계열(E-1~E-10) 취업 풀 약 49만(기업 고용·비자 관리 대상)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E-9 신규는 둔화하나 숙련전환·계절·정주는 확대 → 매년 반복되는 구독·금융 시장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맑은 고딕"/>
              </a:rPr>
              <a:t>③ B2B 준법 + B2C 환급 + 인증을 동시에 쥔 플레이어는 공백 — PlugNX가 선점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VisaDesk(고용 준법) × BackWon(환급·금융)을 ForeignID 인증·데이터 위에 결합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클링커즈는 B2C 금융 슈퍼앱·대출중개 지향 — 환급 미진출·자체 인증/B2B 데이터 미보유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고용+금융 데이터 = 외국인 대체 신용스코어의 길목 → 양면 네트워크로 진입</a:t>
            </a:r>
          </a:p>
          <a:p>
            <a:pPr algn="l">
              <a:spcBef>
                <a:spcPts val="1400"/>
              </a:spcBef>
              <a:buNone/>
            </a:pPr>
            <a:r>
              <a:rPr sz="1300" b="1" i="0">
                <a:solidFill>
                  <a:srgbClr val="1A1A1A"/>
                </a:solidFill>
                <a:latin typeface="맑은 고딕"/>
              </a:rPr>
              <a:t>‘채용 이후의 모든 것’을 양면 데이터로 묶어 비어 있는 자리를 선점 — 지금이 정책 골든타임.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외국인 신사업 · 추진배경/시장분석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맑은 고딕"/>
              </a:rPr>
              <a:t>왜 지금 — 경기가 아니라 ‘구조’가 만든 수요, 3개의 추진력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Source: 출처: 법무부 「’25.12 출입국·외국인정책 통계월보」 · 법무부 「2030 이민정책 미래전략」(’26.3) · 중소기업중앙회 「2025 외국인력 고용 종합애로 실태조사」(1,223사) · 고용노동부 E-9 도입쿼터. 비자·정책 수치는 자주 개정되는 참고 정보.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맑은 고딕"/>
              </a:rPr>
              <a:t>ⓒ 2026 PlugNX  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맑은 고딕"/>
              </a:rPr>
              <a:t>정책 기조도 「양적 확대」→「수급 안정+관리·신뢰 강화」로 전환 (정책 골든타임)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1170432"/>
            <a:ext cx="11405311" cy="329184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" y="2278380"/>
            <a:ext cx="502920" cy="502920"/>
          </a:xfrm>
          <a:prstGeom prst="ellipse">
            <a:avLst/>
          </a:prstGeom>
          <a:solidFill>
            <a:srgbClr val="142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2783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1874519"/>
            <a:ext cx="1554480" cy="1127759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874519"/>
            <a:ext cx="1554480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[01 인구 절벽 · 일할 사람이 사라진다]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59" y="1874519"/>
            <a:ext cx="8899855" cy="1310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2030년까지 생산연령인구 약 −313만 명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산업계 최소 112만 부족(법무부 2030 이민정책 미래전략)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외국인력은 ‘선택’이 아니라 ‘필수 인프라’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3771899"/>
            <a:ext cx="502920" cy="502920"/>
          </a:xfrm>
          <a:prstGeom prst="ellipse">
            <a:avLst/>
          </a:prstGeom>
          <a:solidFill>
            <a:srgbClr val="142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771899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368040"/>
            <a:ext cx="1554480" cy="1127759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368040"/>
            <a:ext cx="1554480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[02 구조적 인력난 · “사람이 없어서” 쓴다]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59" y="3368040"/>
            <a:ext cx="8899855" cy="1310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내국인 미고용 사유 92.9% = ‘내국인 취업 기피’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고용 사유 82.6% = ‘내국인 구인난’ (중기중앙회 2025)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인건비 절감(13.4%) 아닌, 경기와 무관한 구조 수요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5265419"/>
            <a:ext cx="502920" cy="502920"/>
          </a:xfrm>
          <a:prstGeom prst="ellipse">
            <a:avLst/>
          </a:prstGeom>
          <a:solidFill>
            <a:srgbClr val="142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265419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4861559"/>
            <a:ext cx="1554480" cy="1127759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861559"/>
            <a:ext cx="1554480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[03 정주화·고숙련화 · 노동력 → 소비·금융 고객]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59" y="4861559"/>
            <a:ext cx="8899855" cy="1310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유학 30.9만(+17.1%, 증가폭 1위)·영주 22.1만(+8.9%)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결혼이민 18.8만(+3.7%) — 단기 순환 → 정주·반복 수요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정책: E-9 13만→8만(−38.5%), 존량(재직·전환·정착) 관리로 무게 이동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외국인 신사업 · 추진배경/시장분석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맑은 고딕"/>
              </a:rPr>
              <a:t>시장 규모 — 278만이 B2C 216만(사람)·B2B 49만(사업장) 두 시장으로 분기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주: 취업자격 59.4만(광의, H-2·C-4 포함)과 B2B TAM 49만(E계열)은 정의가 다른 별개 수치. 유학 30.9만(+17.1%)·영주 22.1만(+8.9%)은 정주·금융 신규 고객층.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Source: 출처: 법무부 「’25.12 출입국·외국인정책 통계월보」 · 장기체류 216.06만 분해(등록 160.66만+거소 55.39만, ’25.11) · E-9 약 30.2만(시사저널). SAM/SOM 전환 가정은 사업기획서 가정값.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맑은 고딕"/>
              </a:rPr>
              <a:t>ⓒ 2026 PlugNX  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맑은 고딕"/>
              </a:rPr>
              <a:t>B2B의 49만은 ‘기업 수’가 아니라 E계열 취업 외국인 ‘근로자 풀’ — 사업장(社) vs 사람(名)으로 분리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6756" y="1783080"/>
            <a:ext cx="5119450" cy="1432559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196" y="1783080"/>
            <a:ext cx="4936570" cy="1432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TAM · 전체 체류외국인 (’25.12)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278만 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2924" y="1783080"/>
            <a:ext cx="4567290" cy="1432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전년比 +5.0% · 깔때기 진입 최상단 · ’27~’28 300만 돌파 추정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82910" y="3307079"/>
            <a:ext cx="3767142" cy="1432559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74350" y="3307079"/>
            <a:ext cx="3584262" cy="1432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SAM · 장기체류 잠재고객 (’25.11)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216만 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2924" y="3307079"/>
            <a:ext cx="4567290" cy="1432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B2C TAM(환급·금융·관리) = 등록 160.66만 + 거소신고 외국국적동포 55.39만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59064" y="4831080"/>
            <a:ext cx="2414835" cy="1432559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0504" y="4831080"/>
            <a:ext cx="2231955" cy="1432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B2B wedge · E계열 취업 풀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49만 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2924" y="4831080"/>
            <a:ext cx="4567290" cy="1432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B2B TAM(기업 고용·비자 관리) = E-1~E-10 / 그중 E-9 약 30.2만(광·제조 80%+)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외국인 신사업 · 추진배경/시장분석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맑은 고딕"/>
              </a:rPr>
              <a:t>우리가 들어갈 자리 — ‘채용 이후’를 양면(B2B+B2C)으로 독점하는 공백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Source: 출처: PlugNX 경쟁 검증(’26.6) · 사업기획서 v1.0. 전환율 등 〔가정〕 표기는 확정 실적 아님.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맑은 고딕"/>
              </a:rPr>
              <a:t>ⓒ 2026 PlugNX  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113687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맑은 고딕"/>
              </a:rPr>
              <a:t>기업 고용 준법(VisaDesk)과 근로자 환급·금융(BackWon)을 하나의 인증 인프라(ForeignID)·데이터 위에 결합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5272887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50900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왜 PlugNX가 이기는가 (Right-to-win)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286000"/>
            <a:ext cx="5272887" cy="39776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23160"/>
            <a:ext cx="4907127" cy="3703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양면 네트워크 — 기업 등록→근로자 자동 유입(전환 60%+·CAC 0)〔가정〕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고용+금융 데이터 결합 = 외국인 대체 신용스코어의 길목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정책 정합 — K-Trust·임금자문위·비자 단순화에 직접 연결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전환비용·전문가 네트워크(행정사·변호사)로 단순 중개와 차별화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7327" y="1783080"/>
            <a:ext cx="5272887" cy="50292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0207" y="1783080"/>
            <a:ext cx="50900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경쟁 공백 (’26.6 검증)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07327" y="2286000"/>
            <a:ext cx="5272887" cy="39776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0207" y="2423160"/>
            <a:ext cx="4907127" cy="3703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클링커즈(glow)는 B2C 금융 슈퍼앱·대출중개 지향 — 환급 미진출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자체 본인인증·B2B 고용데이터 미보유 → 양면 결합 불가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vivisa×클링커즈 동맹(비자→대체신용)은 신용스코어 길목 경쟁 신호 → 분기 워치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→ B2B 준법 + B2C 환급 + 인증을 동시에 쥔 플레이어는 아직 공백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75807" y="3657599"/>
            <a:ext cx="640080" cy="731520"/>
          </a:xfrm>
          <a:prstGeom prst="rightArrow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외국인 신사업 · 추진배경/시장분석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맑은 고딕"/>
              </a:rPr>
              <a:t>B2B2C 플라이휠 — 한 번 들어가면 양쪽이 서로를 키운다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Source: 출처: 사업기획서 v1.0 플라이휠 가정. 전환율·CAC는 〔가정〕 목표치(확정 실적 아님).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맑은 고딕"/>
              </a:rPr>
              <a:t>ⓒ 2026 PlugNX  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맑은 고딕"/>
              </a:rPr>
              <a:t>B2B 진입이 B2C 유입을 만들고, B2C 만족이 다시 B2B 근속·유지를 키우는 순환 구조</a:t>
            </a:r>
          </a:p>
        </p:txBody>
      </p:sp>
      <p:sp>
        <p:nvSpPr>
          <p:cNvPr id="10" name="Chevron 9"/>
          <p:cNvSpPr/>
          <p:nvPr/>
        </p:nvSpPr>
        <p:spPr>
          <a:xfrm>
            <a:off x="411480" y="1828800"/>
            <a:ext cx="2493203" cy="777240"/>
          </a:xfrm>
          <a:prstGeom prst="chevron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0F1E32"/>
                </a:solidFill>
                <a:latin typeface="맑은 고딕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28800"/>
            <a:ext cx="160623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기업이 근로자 등록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88920"/>
            <a:ext cx="212744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맑은 고딕"/>
              </a:rPr>
              <a:t>VisaDesk로 고용·체류·비자 준법 관리 진입</a:t>
            </a:r>
          </a:p>
        </p:txBody>
      </p:sp>
      <p:sp>
        <p:nvSpPr>
          <p:cNvPr id="15" name="Chevron 14"/>
          <p:cNvSpPr/>
          <p:nvPr/>
        </p:nvSpPr>
        <p:spPr>
          <a:xfrm>
            <a:off x="2630363" y="1828800"/>
            <a:ext cx="2493203" cy="777240"/>
          </a:xfrm>
          <a:prstGeom prst="chevron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94955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94955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0066CC"/>
                </a:solidFill>
                <a:latin typeface="맑은 고딕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0443" y="1828800"/>
            <a:ext cx="160623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근로자 BackWon 자동 유입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1803" y="2788920"/>
            <a:ext cx="212744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맑은 고딕"/>
              </a:rPr>
              <a:t>전환 60%+ · CAC 0〔가정〕</a:t>
            </a:r>
          </a:p>
        </p:txBody>
      </p:sp>
      <p:sp>
        <p:nvSpPr>
          <p:cNvPr id="20" name="Chevron 19"/>
          <p:cNvSpPr/>
          <p:nvPr/>
        </p:nvSpPr>
        <p:spPr>
          <a:xfrm>
            <a:off x="4849246" y="1828800"/>
            <a:ext cx="2493203" cy="777240"/>
          </a:xfrm>
          <a:prstGeom prst="chevron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13838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3838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0F1E32"/>
                </a:solidFill>
                <a:latin typeface="맑은 고딕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9326" y="1828800"/>
            <a:ext cx="160623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B2C 환급·금융 만족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40686" y="2788920"/>
            <a:ext cx="212744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맑은 고딕"/>
              </a:rPr>
              <a:t>미수령 연금·보험·퇴직금 환급 + 급여 적정성</a:t>
            </a:r>
          </a:p>
        </p:txBody>
      </p:sp>
      <p:sp>
        <p:nvSpPr>
          <p:cNvPr id="25" name="Chevron 24"/>
          <p:cNvSpPr/>
          <p:nvPr/>
        </p:nvSpPr>
        <p:spPr>
          <a:xfrm>
            <a:off x="7068129" y="1828800"/>
            <a:ext cx="2493203" cy="777240"/>
          </a:xfrm>
          <a:prstGeom prst="chevron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32721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2721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0066CC"/>
                </a:solidFill>
                <a:latin typeface="맑은 고딕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8209" y="1828800"/>
            <a:ext cx="160623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기업 근속률 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569" y="2788920"/>
            <a:ext cx="212744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맑은 고딕"/>
              </a:rPr>
              <a:t>근로자 만족이 이직·이탈을 낮춤</a:t>
            </a:r>
          </a:p>
        </p:txBody>
      </p:sp>
      <p:sp>
        <p:nvSpPr>
          <p:cNvPr id="30" name="Chevron 29"/>
          <p:cNvSpPr/>
          <p:nvPr/>
        </p:nvSpPr>
        <p:spPr>
          <a:xfrm>
            <a:off x="9287012" y="1828800"/>
            <a:ext cx="2493203" cy="777240"/>
          </a:xfrm>
          <a:prstGeom prst="chevron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51604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51604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0F1E32"/>
                </a:solidFill>
                <a:latin typeface="맑은 고딕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7092" y="1828800"/>
            <a:ext cx="160623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B2B 유지·확장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8452" y="2788920"/>
            <a:ext cx="212744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맑은 고딕"/>
              </a:rPr>
              <a:t>유지율·계정 확장으로 ARR 누적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외국인 신사업 · 추진배경/시장분석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맑은 고딕"/>
              </a:rPr>
              <a:t>목표 — 가정 기반 목표치(확정 실적 아님)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Source: 출처: 사업기획서 v1.0. 전환율·ARR·요금 등은 〔가정〕 기반 목표치이며 확정 실적이 아님. 본 요약의 시장 해석은 법무부 「2030 이민정책 미래전략」(5대 과제)을 PlugNX가 민간 사업기회로 재해석한 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맑은 고딕"/>
              </a:rPr>
              <a:t>ⓒ 2026 PlugNX  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맑은 고딕"/>
              </a:rPr>
              <a:t>PoC → 12개월 → 24개월 ARR 경로 · 요금 Starter/Growth/Compliance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2705023" cy="448055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2705023" cy="91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2339263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맑은 고딕"/>
              </a:rPr>
              <a:t>PoC (8주)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86000"/>
            <a:ext cx="2339263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F1E32"/>
                </a:solidFill>
                <a:latin typeface="맑은 고딕"/>
              </a:rPr>
              <a:t>15사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760720"/>
            <a:ext cx="2339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888888"/>
                </a:solidFill>
                <a:latin typeface="맑은 고딕"/>
              </a:rPr>
              <a:t>▬ </a:t>
            </a:r>
            <a:r>
              <a:rPr sz="1200" b="1">
                <a:solidFill>
                  <a:srgbClr val="888888"/>
                </a:solidFill>
                <a:latin typeface="맑은 고딕"/>
              </a:rPr>
              <a:t>3,300만원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16752"/>
            <a:ext cx="233926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8주 파일럿 · 〔가정〕 목표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9383" y="1783080"/>
            <a:ext cx="2705023" cy="448055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9383" y="1783080"/>
            <a:ext cx="2705023" cy="91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2263" y="1965960"/>
            <a:ext cx="2339263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맑은 고딕"/>
              </a:rPr>
              <a:t>12개월 ARR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2263" y="2286000"/>
            <a:ext cx="2339263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F1E32"/>
                </a:solidFill>
                <a:latin typeface="맑은 고딕"/>
              </a:rPr>
              <a:t>21억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2263" y="5760720"/>
            <a:ext cx="2339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맑은 고딕"/>
              </a:rPr>
              <a:t>▲ </a:t>
            </a:r>
            <a:r>
              <a:rPr sz="1200" b="1">
                <a:solidFill>
                  <a:srgbClr val="4CAF50"/>
                </a:solidFill>
                <a:latin typeface="맑은 고딕"/>
              </a:rPr>
              <a:t>100사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2263" y="6016752"/>
            <a:ext cx="233926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구독 누적 〔가정〕 목표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7287" y="1783080"/>
            <a:ext cx="2705023" cy="448055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7287" y="1783080"/>
            <a:ext cx="2705023" cy="91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167" y="1965960"/>
            <a:ext cx="2339263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맑은 고딕"/>
              </a:rPr>
              <a:t>24개월 ARR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2286000"/>
            <a:ext cx="2339263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F1E32"/>
                </a:solidFill>
                <a:latin typeface="맑은 고딕"/>
              </a:rPr>
              <a:t>60억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760720"/>
            <a:ext cx="2339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맑은 고딕"/>
              </a:rPr>
              <a:t>▲ </a:t>
            </a:r>
            <a:r>
              <a:rPr sz="1200" b="1">
                <a:solidFill>
                  <a:srgbClr val="4CAF50"/>
                </a:solidFill>
                <a:latin typeface="맑은 고딕"/>
              </a:rPr>
              <a:t>300사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6016752"/>
            <a:ext cx="233926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구독 누적 〔가정〕 목표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75191" y="1783080"/>
            <a:ext cx="2705023" cy="448055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75191" y="1783080"/>
            <a:ext cx="2705023" cy="91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8071" y="1965960"/>
            <a:ext cx="2339263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맑은 고딕"/>
              </a:rPr>
              <a:t>월 요금(만원)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8071" y="2286000"/>
            <a:ext cx="2339263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F1E32"/>
                </a:solidFill>
                <a:latin typeface="맑은 고딕"/>
              </a:rPr>
              <a:t>29·89·169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8071" y="5760720"/>
            <a:ext cx="2339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888888"/>
                </a:solidFill>
                <a:latin typeface="맑은 고딕"/>
              </a:rPr>
              <a:t>▬ </a:t>
            </a:r>
            <a:r>
              <a:rPr sz="1200" b="1">
                <a:solidFill>
                  <a:srgbClr val="888888"/>
                </a:solidFill>
                <a:latin typeface="맑은 고딕"/>
              </a:rPr>
              <a:t>Starter/Growth/Compliance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8071" y="6016752"/>
            <a:ext cx="233926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Enterprise 별도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640080"/>
            <a:ext cx="11368735" cy="0"/>
          </a:xfrm>
          <a:prstGeom prst="line">
            <a:avLst/>
          </a:prstGeom>
          <a:ln w="50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274320"/>
            <a:ext cx="113687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맑은 고딕"/>
              </a:rPr>
              <a:t>외국인 신사업 · 추진배경 및 시장분석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447" y="1417320"/>
            <a:ext cx="868680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[결론]:</a:t>
            </a:r>
            <a:r>
              <a:rPr sz="2600" b="1">
                <a:solidFill>
                  <a:srgbClr val="FFFFFF"/>
                </a:solidFill>
                <a:latin typeface="맑은 고딕"/>
              </a:rPr>
              <a:t> 시장은 정주화·구조적 인력난·정책 골든타임의 트리플 추진력이 작동하고, 경쟁은 B2B 준법과 B2C 환급을 동시에 쥔 플레이어가 비어 있다. PlugNX는 ‘채용 이후의 모든 것’을 양면 데이터로 묶어 이 공백을 선점한다.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9815" y="64922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BFBFBF"/>
                </a:solidFill>
                <a:latin typeface="맑은 고딕"/>
              </a:rPr>
              <a:t>PlugNX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