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aa646efd034c99" /><Relationship Type="http://schemas.openxmlformats.org/officeDocument/2006/relationships/extended-properties" Target="/docProps/app.xml" Id="Ra10a5fe9f13c4c48" /><Relationship Type="http://schemas.openxmlformats.org/officeDocument/2006/relationships/officeDocument" Target="/ppt/presentation.xml" Id="Rf59f041d3ca448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524460de4c46a7"/>
  </p:sldMasterIdLst>
  <p:notesMasterIdLst>
    <p:notesMasterId xmlns:r="http://schemas.openxmlformats.org/officeDocument/2006/relationships" r:id="R414e0f481a724730"/>
  </p:notesMasterIdLst>
  <p:sldIdLst>
    <p:sldId xmlns:r="http://schemas.openxmlformats.org/officeDocument/2006/relationships" id="256" r:id="Re52d3ce0e63e4852"/>
    <p:sldId xmlns:r="http://schemas.openxmlformats.org/officeDocument/2006/relationships" id="257" r:id="Rb73152ce03d044e5"/>
    <p:sldId xmlns:r="http://schemas.openxmlformats.org/officeDocument/2006/relationships" id="258" r:id="R5a8ed718f4904aa4"/>
    <p:sldId xmlns:r="http://schemas.openxmlformats.org/officeDocument/2006/relationships" id="259" r:id="R7f0e20573e3e4be6"/>
    <p:sldId xmlns:r="http://schemas.openxmlformats.org/officeDocument/2006/relationships" id="260" r:id="Ref505623c6df430c"/>
    <p:sldId xmlns:r="http://schemas.openxmlformats.org/officeDocument/2006/relationships" id="261" r:id="Rc75ac77d840a414e"/>
    <p:sldId xmlns:r="http://schemas.openxmlformats.org/officeDocument/2006/relationships" id="262" r:id="R092c2a3fa4bd4c99"/>
    <p:sldId xmlns:r="http://schemas.openxmlformats.org/officeDocument/2006/relationships" id="263" r:id="Rdfdd2a6b732d4cea"/>
    <p:sldId xmlns:r="http://schemas.openxmlformats.org/officeDocument/2006/relationships" id="264" r:id="Rbae711ddd53f407a"/>
    <p:sldId xmlns:r="http://schemas.openxmlformats.org/officeDocument/2006/relationships" id="265" r:id="R67aab56c4e2e462c"/>
    <p:sldId xmlns:r="http://schemas.openxmlformats.org/officeDocument/2006/relationships" id="266" r:id="R56a92d4f40ec4f39"/>
    <p:sldId xmlns:r="http://schemas.openxmlformats.org/officeDocument/2006/relationships" id="267" r:id="R57b0327c2e644dc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353e3fd1274af1" /><Relationship Type="http://schemas.openxmlformats.org/officeDocument/2006/relationships/slideMaster" Target="/ppt/slideMasters/slideMaster1.xml" Id="R4b524460de4c46a7" /><Relationship Type="http://schemas.openxmlformats.org/officeDocument/2006/relationships/notesMaster" Target="/ppt/notesMasters/notesMaster1.xml" Id="R414e0f481a724730" /><Relationship Type="http://schemas.openxmlformats.org/officeDocument/2006/relationships/presProps" Target="/ppt/presProps.xml" Id="R7c4027f5a8a6407c" /><Relationship Type="http://schemas.openxmlformats.org/officeDocument/2006/relationships/tableStyles" Target="/ppt/tableStyles.xml" Id="R40f564e11b5c47db" /><Relationship Type="http://schemas.openxmlformats.org/officeDocument/2006/relationships/slide" Target="/ppt/slides/slide1.xml" Id="Re52d3ce0e63e4852" /><Relationship Type="http://schemas.openxmlformats.org/officeDocument/2006/relationships/slide" Target="/ppt/slides/slide2.xml" Id="Rb73152ce03d044e5" /><Relationship Type="http://schemas.openxmlformats.org/officeDocument/2006/relationships/slide" Target="/ppt/slides/slide3.xml" Id="R5a8ed718f4904aa4" /><Relationship Type="http://schemas.openxmlformats.org/officeDocument/2006/relationships/slide" Target="/ppt/slides/slide4.xml" Id="R7f0e20573e3e4be6" /><Relationship Type="http://schemas.openxmlformats.org/officeDocument/2006/relationships/slide" Target="/ppt/slides/slide5.xml" Id="Ref505623c6df430c" /><Relationship Type="http://schemas.openxmlformats.org/officeDocument/2006/relationships/slide" Target="/ppt/slides/slide6.xml" Id="Rc75ac77d840a414e" /><Relationship Type="http://schemas.openxmlformats.org/officeDocument/2006/relationships/slide" Target="/ppt/slides/slide7.xml" Id="R092c2a3fa4bd4c99" /><Relationship Type="http://schemas.openxmlformats.org/officeDocument/2006/relationships/slide" Target="/ppt/slides/slide8.xml" Id="Rdfdd2a6b732d4cea" /><Relationship Type="http://schemas.openxmlformats.org/officeDocument/2006/relationships/slide" Target="/ppt/slides/slide9.xml" Id="Rbae711ddd53f407a" /><Relationship Type="http://schemas.openxmlformats.org/officeDocument/2006/relationships/slide" Target="/ppt/slides/slide10.xml" Id="R67aab56c4e2e462c" /><Relationship Type="http://schemas.openxmlformats.org/officeDocument/2006/relationships/slide" Target="/ppt/slides/slide11.xml" Id="R56a92d4f40ec4f39" /><Relationship Type="http://schemas.openxmlformats.org/officeDocument/2006/relationships/slide" Target="/ppt/slides/slide12.xml" Id="R57b0327c2e644d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ffff1efb454d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6b338f532d4c3b" /><Relationship Type="http://schemas.openxmlformats.org/officeDocument/2006/relationships/notesMaster" Target="/ppt/notesMasters/notesMaster1.xml" Id="R32bc5c7b3cae41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33f6f7dc5b4697" /><Relationship Type="http://schemas.openxmlformats.org/officeDocument/2006/relationships/notesMaster" Target="/ppt/notesMasters/notesMaster1.xml" Id="R0cd22fc10cbe48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7c6120d03b4925" /><Relationship Type="http://schemas.openxmlformats.org/officeDocument/2006/relationships/notesMaster" Target="/ppt/notesMasters/notesMaster1.xml" Id="R73e980a218a74f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14a8b54e8d4904" /><Relationship Type="http://schemas.openxmlformats.org/officeDocument/2006/relationships/notesMaster" Target="/ppt/notesMasters/notesMaster1.xml" Id="R37a638eb43b54b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0d63166c994f16" /><Relationship Type="http://schemas.openxmlformats.org/officeDocument/2006/relationships/notesMaster" Target="/ppt/notesMasters/notesMaster1.xml" Id="R9fc80ee4bee14e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44a9f9fee64690" /><Relationship Type="http://schemas.openxmlformats.org/officeDocument/2006/relationships/notesMaster" Target="/ppt/notesMasters/notesMaster1.xml" Id="R60ac5b2e9a324c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f3feaa7f5a4dbe" /><Relationship Type="http://schemas.openxmlformats.org/officeDocument/2006/relationships/notesMaster" Target="/ppt/notesMasters/notesMaster1.xml" Id="Raa21f8cdc01a4b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efb8a199094d48" /><Relationship Type="http://schemas.openxmlformats.org/officeDocument/2006/relationships/notesMaster" Target="/ppt/notesMasters/notesMaster1.xml" Id="R12b54119ca2b49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6fe904978d14699" /><Relationship Type="http://schemas.openxmlformats.org/officeDocument/2006/relationships/notesMaster" Target="/ppt/notesMasters/notesMaster1.xml" Id="Ra6982815c7b9475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18ed5fe8e314f6f" /><Relationship Type="http://schemas.openxmlformats.org/officeDocument/2006/relationships/notesMaster" Target="/ppt/notesMasters/notesMaster1.xml" Id="R699abb75d02a4ec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43b7198fe1f4d20" /><Relationship Type="http://schemas.openxmlformats.org/officeDocument/2006/relationships/notesMaster" Target="/ppt/notesMasters/notesMaster1.xml" Id="R472778c252f4483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00e676602c543ed" /><Relationship Type="http://schemas.openxmlformats.org/officeDocument/2006/relationships/notesMaster" Target="/ppt/notesMasters/notesMaster1.xml" Id="R763e294998264a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623ac1d11b46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4e463fbdf24ed8" /><Relationship Type="http://schemas.openxmlformats.org/officeDocument/2006/relationships/slideLayout" Target="/ppt/slideLayouts/slideLayout1.xml" Id="R7cb9da544b834d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b9da544b834d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bc30e17ed44d06" /><Relationship Type="http://schemas.openxmlformats.org/officeDocument/2006/relationships/notesSlide" Target="/ppt/notesSlides/notesSlide1.xml" Id="R419d44cdbd244b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5360febf74ba3" /><Relationship Type="http://schemas.openxmlformats.org/officeDocument/2006/relationships/notesSlide" Target="/ppt/notesSlides/notesSlide2.xml" Id="R5abc82e53d4649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af805db45344b2" /><Relationship Type="http://schemas.openxmlformats.org/officeDocument/2006/relationships/notesSlide" Target="/ppt/notesSlides/notesSlide3.xml" Id="Rf9c74d2c45ba4f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2dd0b3904a44e4" /><Relationship Type="http://schemas.openxmlformats.org/officeDocument/2006/relationships/notesSlide" Target="/ppt/notesSlides/notesSlide4.xml" Id="Ra151df16fe824d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81ed3fd9ee45b7" /><Relationship Type="http://schemas.openxmlformats.org/officeDocument/2006/relationships/notesSlide" Target="/ppt/notesSlides/notesSlide5.xml" Id="Rc0e4210db07143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2482d43b7546a3" /><Relationship Type="http://schemas.openxmlformats.org/officeDocument/2006/relationships/notesSlide" Target="/ppt/notesSlides/notesSlide6.xml" Id="R663ab760d5294e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3e5e749a44389" /><Relationship Type="http://schemas.openxmlformats.org/officeDocument/2006/relationships/notesSlide" Target="/ppt/notesSlides/notesSlide7.xml" Id="R3ddc9d13effd44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2dc26eed14ac7" /><Relationship Type="http://schemas.openxmlformats.org/officeDocument/2006/relationships/notesSlide" Target="/ppt/notesSlides/notesSlide8.xml" Id="R17c032c136a84af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b9004a3f0c479a" /><Relationship Type="http://schemas.openxmlformats.org/officeDocument/2006/relationships/image" Target="/ppt/media/image.png" Id="Reb0dd4e9772e40c4" /><Relationship Type="http://schemas.openxmlformats.org/officeDocument/2006/relationships/notesSlide" Target="/ppt/notesSlides/notesSlide9.xml" Id="Rc538f35aa6ce4f1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5a36a4507f4a3f" /><Relationship Type="http://schemas.openxmlformats.org/officeDocument/2006/relationships/image" Target="/ppt/media/image2.png" Id="R5df07051c8c74592" /><Relationship Type="http://schemas.openxmlformats.org/officeDocument/2006/relationships/notesSlide" Target="/ppt/notesSlides/notesSlide10.xml" Id="R2e5a72f5b6aa4fa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334041c7c54afb" /><Relationship Type="http://schemas.openxmlformats.org/officeDocument/2006/relationships/image" Target="/ppt/media/image3.png" Id="Ref1fbdd0476942ca" /><Relationship Type="http://schemas.openxmlformats.org/officeDocument/2006/relationships/image" Target="/ppt/media/image4.png" Id="Rc428c35a4c494db5" /><Relationship Type="http://schemas.openxmlformats.org/officeDocument/2006/relationships/notesSlide" Target="/ppt/notesSlides/notesSlide11.xml" Id="Re9d8616b63d6406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86fe5d2fc41e3" /><Relationship Type="http://schemas.openxmlformats.org/officeDocument/2006/relationships/notesSlide" Target="/ppt/notesSlides/notesSlide12.xml" Id="R4b313c7959234d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727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3457EB-34CA-4320-AEFB-AAF4C110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7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18B046-CA75-4D9B-87D4-55790EFA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PLUGnx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09F0AD-27BE-4CBF-861C-802FE24F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6572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외국인 시장 추진배경과</a:t>
            </a:r>
          </a:p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시장규모 리서치 요약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5286EE-859A-43F8-AE08-28EAB943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CCCCCC"/>
                </a:solidFill>
              </a:defRPr>
            </a:pPr>
            <a:r>
              <a:rPr sz="1800">
                <a:solidFill>
                  <a:srgbClr val="CCCCCC"/>
                </a:solidFill>
              </a:rPr>
              <a:t>VisaDesk · Moneeback · ForeignID로 이어지는</a:t>
            </a:r>
          </a:p>
          <a:p xmlns:a="http://schemas.openxmlformats.org/drawingml/2006/main">
            <a:pPr>
              <a:defRPr sz="1800">
                <a:solidFill>
                  <a:srgbClr val="CCCCCC"/>
                </a:solidFill>
              </a:defRPr>
            </a:pPr>
            <a:r>
              <a:rPr sz="1800">
                <a:solidFill>
                  <a:srgbClr val="CCCCCC"/>
                </a:solidFill>
              </a:rPr>
              <a:t>B2B+B2C 양면 플랫폼 진입 논리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4EC972-F2A8-4E35-B489-88BC0127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143000"/>
            <a:ext cx="3162300" cy="40957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DF0723-70F7-4096-86D3-9451E497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62100"/>
            <a:ext cx="24765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A5E466-7E17-4EAA-9F22-1E7D6E39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90700"/>
            <a:ext cx="2019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66CC"/>
                </a:solidFill>
              </a:defRPr>
            </a:pPr>
            <a:r>
              <a:rPr sz="3225" b="1">
                <a:solidFill>
                  <a:srgbClr val="0066CC"/>
                </a:solidFill>
              </a:rPr>
              <a:t>278.3만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FD3602-6ACF-42A2-970C-6F25EC03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47925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D1D1F"/>
                </a:solidFill>
              </a:defRPr>
            </a:pPr>
            <a:r>
              <a:rPr sz="1500" b="1">
                <a:solidFill>
                  <a:srgbClr val="1D1D1F"/>
                </a:solidFill>
              </a:rPr>
              <a:t>체류외국인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DE390F-EBF4-4F9B-BCE9-B1CB650E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71775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A7A7A"/>
                </a:solidFill>
              </a:defRPr>
            </a:pPr>
            <a:r>
              <a:rPr sz="1050">
                <a:solidFill>
                  <a:srgbClr val="7A7A7A"/>
                </a:solidFill>
              </a:rPr>
              <a:t>2025.12 기준 SSOT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BD520B-6B12-426A-B0F1-C936AB60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0375"/>
            <a:ext cx="24765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5E5AB7-816C-44DF-BEF9-907513D9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28975"/>
            <a:ext cx="2019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66CC"/>
                </a:solidFill>
              </a:defRPr>
            </a:pPr>
            <a:r>
              <a:rPr sz="3225" b="1">
                <a:solidFill>
                  <a:srgbClr val="0066CC"/>
                </a:solidFill>
              </a:rPr>
              <a:t>216만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1FFC0F-4021-4ADA-9369-FF1902A0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8620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D1D1F"/>
                </a:solidFill>
              </a:defRPr>
            </a:pPr>
            <a:r>
              <a:rPr sz="1500" b="1">
                <a:solidFill>
                  <a:srgbClr val="1D1D1F"/>
                </a:solidFill>
              </a:rPr>
              <a:t>B2C TAM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B66362-B24A-4CD2-8FB1-30A9BCDA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10050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A7A7A"/>
                </a:solidFill>
              </a:defRPr>
            </a:pPr>
            <a:r>
              <a:rPr sz="1050">
                <a:solidFill>
                  <a:srgbClr val="7A7A7A"/>
                </a:solidFill>
              </a:rPr>
              <a:t>전체 장기체류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482C13-C05F-41DF-92BC-8A2E230A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198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CCCCCC"/>
                </a:solidFill>
              </a:defRPr>
            </a:pPr>
            <a:r>
              <a:rPr sz="1050">
                <a:solidFill>
                  <a:srgbClr val="CCCCCC"/>
                </a:solidFill>
              </a:rPr>
              <a:t>2026.06 · research deck</a:t>
            </a:r>
          </a:p>
        </p:txBody>
      </p:sp>
    </p:spTree>
    <p:extLst>
      <p:ext uri="{BB962C8B-B14F-4D97-AF65-F5344CB8AC3E}">
        <p14:creationId xmlns:p14="http://schemas.microsoft.com/office/powerpoint/2010/main" val="10178493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DB49CB-4E3E-4EC6-BB38-1E0136A0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D1D1F"/>
                </a:solidFill>
              </a:defRPr>
            </a:pPr>
            <a:r>
              <a:rPr sz="1425" b="1">
                <a:solidFill>
                  <a:srgbClr val="1D1D1F"/>
                </a:solidFill>
              </a:rPr>
              <a:t>PLUGnx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43DA5C-3E89-4E3F-B8FD-F5736650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1D1F"/>
                </a:solidFill>
              </a:defRPr>
            </a:pPr>
            <a:r>
              <a:rPr sz="2925" b="1">
                <a:solidFill>
                  <a:srgbClr val="1D1D1F"/>
                </a:solidFill>
              </a:rPr>
              <a:t>한 장 결론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F1B24-D47D-4FC2-ABD9-180E1F92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3333"/>
                </a:solidFill>
              </a:defRPr>
            </a:pPr>
            <a:r>
              <a:rPr sz="1575">
                <a:solidFill>
                  <a:srgbClr val="333333"/>
                </a:solidFill>
              </a:rPr>
              <a:t>외국인 시장은 커지고, 제도는 관리 중심으로 바뀌며, 채용 이후 데이터는 비어 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D5AD61-EC5F-471C-9078-A76671FF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87A829-2616-4657-B6A8-43E609EA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1104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AFAFC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050385-D348-4822-9942-91B0BFBC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3907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66CC"/>
                </a:solidFill>
              </a:defRPr>
            </a:pPr>
            <a:r>
              <a:rPr sz="975" b="1">
                <a:solidFill>
                  <a:srgbClr val="0066CC"/>
                </a:solidFill>
              </a:rPr>
              <a:t>WHY BIG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307518-4E7B-47A2-80D4-99B39BFF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2876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1D1F"/>
                </a:solidFill>
              </a:defRPr>
            </a:pPr>
            <a:r>
              <a:rPr sz="1800" b="1">
                <a:solidFill>
                  <a:srgbClr val="1D1D1F"/>
                </a:solidFill>
              </a:rPr>
              <a:t>인구구조가 만든 시장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996F9A-7F2A-426E-BB10-47751568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8765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3333"/>
                </a:solidFill>
              </a:defRPr>
            </a:pPr>
            <a:r>
              <a:rPr sz="1275">
                <a:solidFill>
                  <a:srgbClr val="333333"/>
                </a:solidFill>
              </a:rPr>
              <a:t>체류외국인 278.3만명은 일시적 유행이 아니라 저출생·고령화와 산업 인력난이 강제하는 구조적 수요입니다.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86924A-350A-4473-BDF4-45C1AB68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1455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08C605-D28A-44F2-9185-4E02F086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24100"/>
            <a:ext cx="1104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AFAFC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A44B70-9C21-41A9-A6C9-CDA377B3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3907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9E0B"/>
                </a:solidFill>
              </a:defRPr>
            </a:pPr>
            <a:r>
              <a:rPr sz="975" b="1">
                <a:solidFill>
                  <a:srgbClr val="F59E0B"/>
                </a:solidFill>
              </a:rPr>
              <a:t>WHY NOW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3D18DB-4E87-4DCE-BA57-89F76124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00350"/>
            <a:ext cx="2876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1D1F"/>
                </a:solidFill>
              </a:defRPr>
            </a:pPr>
            <a:r>
              <a:rPr sz="1800" b="1">
                <a:solidFill>
                  <a:srgbClr val="1D1D1F"/>
                </a:solidFill>
              </a:rPr>
              <a:t>정책이 다시 쓰이는 시점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6333BE-827B-494E-B558-348978FE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19450"/>
            <a:ext cx="28765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3333"/>
                </a:solidFill>
              </a:defRPr>
            </a:pPr>
            <a:r>
              <a:rPr sz="1275">
                <a:solidFill>
                  <a:srgbClr val="333333"/>
                </a:solidFill>
              </a:rPr>
              <a:t>E-9 양적 확대 이후, 숙련전환·지역정주·디지털 신원·임금요건처럼 기업이 관리해야 할 룰이 늘고 있습니다.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EB961D-92C0-4070-A5D0-7D847C78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1455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428B71-3265-49B7-8D1B-6B2C9C40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24100"/>
            <a:ext cx="1104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AFAFC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F870F3-58DD-4C06-B057-02D7C034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3907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9F6E"/>
                </a:solidFill>
              </a:defRPr>
            </a:pPr>
            <a:r>
              <a:rPr sz="975" b="1">
                <a:solidFill>
                  <a:srgbClr val="0F9F6E"/>
                </a:solidFill>
              </a:rPr>
              <a:t>WHY 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A78256-D780-4FAD-A8AD-9517B43B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00350"/>
            <a:ext cx="2876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1D1F"/>
                </a:solidFill>
              </a:defRPr>
            </a:pPr>
            <a:r>
              <a:rPr sz="1800" b="1">
                <a:solidFill>
                  <a:srgbClr val="1D1D1F"/>
                </a:solidFill>
              </a:rPr>
              <a:t>데이터 입구를 쥐는 해법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7620A3-1485-4A14-BAC1-F849AE9F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19450"/>
            <a:ext cx="28765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3333"/>
                </a:solidFill>
              </a:defRPr>
            </a:pPr>
            <a:r>
              <a:rPr sz="1275">
                <a:solidFill>
                  <a:srgbClr val="333333"/>
                </a:solidFill>
              </a:rPr>
              <a:t>VisaDesk로 기업 고용·임금·체류 데이터를 만들고, Moneeback과 ForeignID로 근로자 금융·환급으로 연결합니다.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DC306C-FEBC-49F0-B69D-5BB1D191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95875"/>
            <a:ext cx="9239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2727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033043-EBAD-428A-8EDC-FCDF7089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2768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Thesis: 외국인 시장에, 지금, 채용 이후 데이터 입구를 먼저 쥐고 진입한다.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CC9B78-72E7-4344-9598-3E4AB620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A7A7A"/>
                </a:solidFill>
              </a:defRPr>
            </a:pPr>
            <a:r>
              <a:rPr sz="825">
                <a:solidFill>
                  <a:srgbClr val="7A7A7A"/>
                </a:solidFill>
              </a:rPr>
              <a:t>Source: PROJECT.md · handoff/why-foreign-market.md · handoff/policy-watch-3yr.md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19100D-03B2-435A-8A4F-6717E23D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7A7A7A"/>
                </a:solidFill>
              </a:defRPr>
            </a:pPr>
            <a:r>
              <a:rPr sz="975">
                <a:solidFill>
                  <a:srgbClr val="7A7A7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593010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EDCE94-10A8-4993-A4BF-BE4AFDCF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D1D1F"/>
                </a:solidFill>
              </a:defRPr>
            </a:pPr>
            <a:r>
              <a:rPr sz="1425" b="1">
                <a:solidFill>
                  <a:srgbClr val="1D1D1F"/>
                </a:solidFill>
              </a:rPr>
              <a:t>PLUGnx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F7B20A-C5B6-4F33-90DB-1AE4886F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1D1F"/>
                </a:solidFill>
              </a:defRPr>
            </a:pPr>
            <a:r>
              <a:rPr sz="2925" b="1">
                <a:solidFill>
                  <a:srgbClr val="1D1D1F"/>
                </a:solidFill>
              </a:rPr>
              <a:t>추진배경 1 · 인구구조가 시장을 만든다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5B2FFB-61AF-4336-BA63-0ADDB18F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3333"/>
                </a:solidFill>
              </a:defRPr>
            </a:pPr>
            <a:r>
              <a:rPr sz="1575">
                <a:solidFill>
                  <a:srgbClr val="333333"/>
                </a:solidFill>
              </a:rPr>
              <a:t>외국인 시장은 선택지가 아니라 생산연령인구 감소가 만든 구조적 수요입니다.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04140C-DB15-4AAD-A7BD-E558ED22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319087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656468-0D1E-4BE4-83C3-488CD4EC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27336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66CC"/>
                </a:solidFill>
              </a:defRPr>
            </a:pPr>
            <a:r>
              <a:rPr sz="3225" b="1">
                <a:solidFill>
                  <a:srgbClr val="0066CC"/>
                </a:solidFill>
              </a:rPr>
              <a:t>278.3만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98ED61-C8D1-4A93-A1BA-1988F719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57525"/>
            <a:ext cx="2695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D1D1F"/>
                </a:solidFill>
              </a:defRPr>
            </a:pPr>
            <a:r>
              <a:rPr sz="1500" b="1">
                <a:solidFill>
                  <a:srgbClr val="1D1D1F"/>
                </a:solidFill>
              </a:rPr>
              <a:t>체류외국인 전체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3CFB4C-F71A-4A8D-9A49-CFBF1866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2695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A7A7A"/>
                </a:solidFill>
              </a:defRPr>
            </a:pPr>
            <a:r>
              <a:rPr sz="1050">
                <a:solidFill>
                  <a:srgbClr val="7A7A7A"/>
                </a:solidFill>
              </a:rPr>
              <a:t>2025.12 기준 · 전년 대비 증가 흐름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9722A4-487F-4EA1-9640-5AA448EA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71700"/>
            <a:ext cx="319087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947C9D-3B73-4233-9E74-45B62D1B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00300"/>
            <a:ext cx="27336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66CC"/>
                </a:solidFill>
              </a:defRPr>
            </a:pPr>
            <a:r>
              <a:rPr sz="3225" b="1">
                <a:solidFill>
                  <a:srgbClr val="0066CC"/>
                </a:solidFill>
              </a:rPr>
              <a:t>5%+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887D9F-C190-480C-BFA6-F8F4DA32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57525"/>
            <a:ext cx="2695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D1D1F"/>
                </a:solidFill>
              </a:defRPr>
            </a:pPr>
            <a:r>
              <a:rPr sz="1500" b="1">
                <a:solidFill>
                  <a:srgbClr val="1D1D1F"/>
                </a:solidFill>
              </a:rPr>
              <a:t>총인구 내 비중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6FFAC9-47BE-4587-93BB-DACFF9B1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81375"/>
            <a:ext cx="2695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A7A7A"/>
                </a:solidFill>
              </a:defRPr>
            </a:pPr>
            <a:r>
              <a:rPr sz="1050">
                <a:solidFill>
                  <a:srgbClr val="7A7A7A"/>
                </a:solidFill>
              </a:rPr>
              <a:t>이미 한국 사회의 주류 인프라 대상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60CD61-4F94-4C14-9143-AF450A35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71700"/>
            <a:ext cx="319087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67A5EF-0761-4E9B-8DE7-4FC2B7D2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00300"/>
            <a:ext cx="27336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D70015"/>
                </a:solidFill>
              </a:defRPr>
            </a:pPr>
            <a:r>
              <a:rPr sz="3225" b="1">
                <a:solidFill>
                  <a:srgbClr val="D70015"/>
                </a:solidFill>
              </a:rPr>
              <a:t>313만↓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35A21F-3CB5-4F0D-B9F6-AA7C141E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57525"/>
            <a:ext cx="2695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D1D1F"/>
                </a:solidFill>
              </a:defRPr>
            </a:pPr>
            <a:r>
              <a:rPr sz="1500" b="1">
                <a:solidFill>
                  <a:srgbClr val="1D1D1F"/>
                </a:solidFill>
              </a:rPr>
              <a:t>생산연령인구 감소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297519-300C-42AA-8E59-F12F0214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381375"/>
            <a:ext cx="2695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A7A7A"/>
                </a:solidFill>
              </a:defRPr>
            </a:pPr>
            <a:r>
              <a:rPr sz="1050">
                <a:solidFill>
                  <a:srgbClr val="7A7A7A"/>
                </a:solidFill>
              </a:rPr>
              <a:t>2030 전략/통계청 기반, 출처별 보정 필요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D3900C-184D-4604-A869-F210D846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01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1D1F"/>
                </a:solidFill>
              </a:defRPr>
            </a:pPr>
            <a:r>
              <a:rPr sz="1800" b="1">
                <a:solidFill>
                  <a:srgbClr val="1D1D1F"/>
                </a:solidFill>
              </a:rPr>
              <a:t>핵심 해석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E8B68C-56D0-465F-8CC2-F34070C7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62500"/>
            <a:ext cx="828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3333"/>
                </a:solidFill>
              </a:defRPr>
            </a:pPr>
            <a:r>
              <a:rPr sz="1650">
                <a:solidFill>
                  <a:srgbClr val="333333"/>
                </a:solidFill>
              </a:rPr>
              <a:t>외국인 유입은 단기 트렌드가 아니라 제조·농축산·지역·돌봄 인력난이 만든 반복 수요입니다. 따라서 시장 질문은 "들어올까"가 아니라 "누가 채용 이후 관리 데이터를 먼저 쌓을까"로 바뀝니다.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5FB073-5ED0-4B3D-A3C5-814DAD6C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A7A7A"/>
                </a:solidFill>
              </a:defRPr>
            </a:pPr>
            <a:r>
              <a:rPr sz="825">
                <a:solidFill>
                  <a:srgbClr val="7A7A7A"/>
                </a:solidFill>
              </a:rPr>
              <a:t>Source: PROJECT.md SSOT · handoff/why-foreign-market.md · output/business-case-research/99-synthesis.md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364C4F-6A0A-4C89-9AB0-3A1F91EF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7A7A7A"/>
                </a:solidFill>
              </a:defRPr>
            </a:pPr>
            <a:r>
              <a:rPr sz="975">
                <a:solidFill>
                  <a:srgbClr val="7A7A7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664527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B1415B-722B-4476-A97D-10E39C18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D1D1F"/>
                </a:solidFill>
              </a:defRPr>
            </a:pPr>
            <a:r>
              <a:rPr sz="1425" b="1">
                <a:solidFill>
                  <a:srgbClr val="1D1D1F"/>
                </a:solidFill>
              </a:rPr>
              <a:t>PLUGnx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B3F648-5730-4D31-9F27-77F339AD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1D1F"/>
                </a:solidFill>
              </a:defRPr>
            </a:pPr>
            <a:r>
              <a:rPr sz="2925" b="1">
                <a:solidFill>
                  <a:srgbClr val="1D1D1F"/>
                </a:solidFill>
              </a:rPr>
              <a:t>정책은 관리·신뢰로 이동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BD37CF-CD49-4447-8BF0-E6B5CDAA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3333"/>
                </a:solidFill>
              </a:defRPr>
            </a:pPr>
            <a:r>
              <a:rPr sz="1575">
                <a:solidFill>
                  <a:srgbClr val="333333"/>
                </a:solidFill>
              </a:rPr>
              <a:t>신규 도입보다 재직자 관리, 숙련전환, 디지털 신원, 금융 접근이 중요해졌습니다.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56E7CF-754F-4C97-BC5F-EC08F3BD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E62F5E-29B7-46D0-B070-3CCDC010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193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66CC"/>
                </a:solidFill>
              </a:defRPr>
            </a:pPr>
            <a:r>
              <a:rPr sz="2850" b="1">
                <a:solidFill>
                  <a:srgbClr val="0066CC"/>
                </a:solidFill>
              </a:rPr>
              <a:t>2023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CDD26F-B68E-4596-86EA-27B6A62A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289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D1D1F"/>
                </a:solidFill>
              </a:defRPr>
            </a:pPr>
            <a:r>
              <a:rPr sz="1650" b="1">
                <a:solidFill>
                  <a:srgbClr val="1D1D1F"/>
                </a:solidFill>
              </a:rPr>
              <a:t>숙련전환 시작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4EB774-FB55-457A-8679-34F05D0E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76625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K-point E74 확대,</a:t>
            </a:r>
          </a:p>
          <a:p xmlns:a="http://schemas.openxmlformats.org/drawingml/2006/main">
            <a:pPr>
              <a:defRPr sz="1200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유학생·지역취업 전략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6A2108-4B25-4861-B2C8-62B07191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385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4B6747-50F4-4121-973E-BA5AA0DD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2095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8A4C1B-3361-4DBC-B5AE-2456159F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193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66CC"/>
                </a:solidFill>
              </a:defRPr>
            </a:pPr>
            <a:r>
              <a:rPr sz="2850" b="1">
                <a:solidFill>
                  <a:srgbClr val="0066CC"/>
                </a:solidFill>
              </a:rPr>
              <a:t>2024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8DA844-8BEE-49FB-B70B-8D225580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0289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D1D1F"/>
                </a:solidFill>
              </a:defRPr>
            </a:pPr>
            <a:r>
              <a:rPr sz="1650" b="1">
                <a:solidFill>
                  <a:srgbClr val="1D1D1F"/>
                </a:solidFill>
              </a:rPr>
              <a:t>E-9 대확대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7BF833-017D-4D54-88D1-46E13367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476625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E-9 16.5만,</a:t>
            </a:r>
          </a:p>
          <a:p xmlns:a="http://schemas.openxmlformats.org/drawingml/2006/main">
            <a:pPr>
              <a:defRPr sz="1200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서비스업 개방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084F8E-7489-4882-9FF8-2E5D5AE1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385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66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D380F0-C3EF-4401-92B4-CBC11D75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2095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510682-041B-4E5D-B0DC-6A667167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193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66CC"/>
                </a:solidFill>
              </a:defRPr>
            </a:pPr>
            <a:r>
              <a:rPr sz="2850" b="1">
                <a:solidFill>
                  <a:srgbClr val="0066CC"/>
                </a:solidFill>
              </a:rPr>
              <a:t>2025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22654C-15CE-4350-B647-E8D2071C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289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D1D1F"/>
                </a:solidFill>
              </a:defRPr>
            </a:pPr>
            <a:r>
              <a:rPr sz="1650" b="1">
                <a:solidFill>
                  <a:srgbClr val="1D1D1F"/>
                </a:solidFill>
              </a:rPr>
              <a:t>표준화·금융접근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94E8BA-4219-455B-AA63-6EAD6626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76625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모바일 외국인등록증,</a:t>
            </a:r>
          </a:p>
          <a:p xmlns:a="http://schemas.openxmlformats.org/drawingml/2006/main">
            <a:pPr>
              <a:defRPr sz="1200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기본인적정보 표준화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50B92A-F4E8-46E8-B44A-DFED976A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385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66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35C2AF-8B1B-4CCF-8850-7D7AD42D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90750"/>
            <a:ext cx="2095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272729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0D4A40-0307-4BAC-9FC1-84ECF415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193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F1C078-CEC5-4CFA-AE5F-44AC59D3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289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관리·정주 강화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5784F3-9ACE-4377-808A-63D14449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76625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CCCCC"/>
                </a:solidFill>
              </a:defRPr>
            </a:pPr>
            <a:r>
              <a:rPr sz="1200">
                <a:solidFill>
                  <a:srgbClr val="CCCCCC"/>
                </a:solidFill>
              </a:rPr>
              <a:t>E-9 8만 조정,</a:t>
            </a:r>
          </a:p>
          <a:p xmlns:a="http://schemas.openxmlformats.org/drawingml/2006/main">
            <a:pPr>
              <a:defRPr sz="1200">
                <a:solidFill>
                  <a:srgbClr val="CCCCCC"/>
                </a:solidFill>
              </a:defRPr>
            </a:pPr>
            <a:r>
              <a:rPr sz="1200">
                <a:solidFill>
                  <a:srgbClr val="CCCCCC"/>
                </a:solidFill>
              </a:rPr>
              <a:t>E-7-4·지역정주 확대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9AFADE-3862-4938-AD5F-F2A3BF3E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53000"/>
            <a:ext cx="9239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AD5ED8-43D1-44A7-8E4B-48A21245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911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D1D1F"/>
                </a:solidFill>
              </a:defRPr>
            </a:pPr>
            <a:r>
              <a:rPr sz="1500" b="1">
                <a:solidFill>
                  <a:srgbClr val="1D1D1F"/>
                </a:solidFill>
              </a:rPr>
              <a:t>PlugNX 해석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C02567-16C0-47D6-A961-4A370D5C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43500"/>
            <a:ext cx="676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33333"/>
                </a:solidFill>
              </a:defRPr>
            </a:pPr>
            <a:r>
              <a:rPr sz="1425">
                <a:solidFill>
                  <a:srgbClr val="333333"/>
                </a:solidFill>
              </a:rPr>
              <a:t>정책 변동은 리스크이면서 제품 가치입니다. 룰이 바뀔수록 기업은 VisaDesk가, 근로자는 Moneeback이, 인증·금융 온보딩은 ForeignID가 필요해집니다.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C326D6-F2A7-4579-852D-903D906E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A7A7A"/>
                </a:solidFill>
              </a:defRPr>
            </a:pPr>
            <a:r>
              <a:rPr sz="825">
                <a:solidFill>
                  <a:srgbClr val="7A7A7A"/>
                </a:solidFill>
              </a:rPr>
              <a:t>Source: handoff/policy-watch-3yr.md · handoff/policy-master-plans.md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8BA0A1-0FFA-4F26-A4A3-A775C45A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7A7A7A"/>
                </a:solidFill>
              </a:defRPr>
            </a:pPr>
            <a:r>
              <a:rPr sz="975">
                <a:solidFill>
                  <a:srgbClr val="7A7A7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069787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E08EF0-A54E-4A20-A262-B5F008AE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D1D1F"/>
                </a:solidFill>
              </a:defRPr>
            </a:pPr>
            <a:r>
              <a:rPr sz="1425" b="1">
                <a:solidFill>
                  <a:srgbClr val="1D1D1F"/>
                </a:solidFill>
              </a:rPr>
              <a:t>PLUGnx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E6E9AE-2B0F-4F77-A942-3ADF9763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1D1F"/>
                </a:solidFill>
              </a:defRPr>
            </a:pPr>
            <a:r>
              <a:rPr sz="2925" b="1">
                <a:solidFill>
                  <a:srgbClr val="1D1D1F"/>
                </a:solidFill>
              </a:rPr>
              <a:t>시장규모 · 두 개의 TAM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1BC05B-5B8F-417B-9334-1757BB13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3333"/>
                </a:solidFill>
              </a:defRPr>
            </a:pPr>
            <a:r>
              <a:rPr sz="1575">
                <a:solidFill>
                  <a:srgbClr val="333333"/>
                </a:solidFill>
              </a:rPr>
              <a:t>Moneeback은 장기체류 B2C, VisaDesk는 E계열 취업비자 B2B에서 시작합니다.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1B383C-B978-4492-ABF0-C203BCFF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10287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2727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4AA82B-6BD5-4BF3-9CB3-BB47478F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38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체류외국인 전체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295E27-7035-49C3-9C98-81B932D0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336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278.3만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65CD1A-1DDC-4299-BF83-3549C2F1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8001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3D3B01-E1AE-477D-9661-49757CCF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D1D1F"/>
                </a:solidFill>
              </a:defRPr>
            </a:pPr>
            <a:r>
              <a:rPr sz="1650" b="1">
                <a:solidFill>
                  <a:srgbClr val="1D1D1F"/>
                </a:solidFill>
              </a:rPr>
              <a:t>B2C TAM · 장기체류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FA067F-A0AB-483E-892C-E7BECE7F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43852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700" b="1">
                <a:solidFill>
                  <a:srgbClr val="0066CC"/>
                </a:solidFill>
              </a:defRPr>
            </a:pPr>
            <a:r>
              <a:rPr sz="2700" b="1">
                <a:solidFill>
                  <a:srgbClr val="0066CC"/>
                </a:solidFill>
              </a:rPr>
              <a:t>216만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A6B27C-2A52-4DDB-AC20-A766B62B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9125"/>
            <a:ext cx="4762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B8582B-4920-42E4-A994-7C6ED5D6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386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D1D1F"/>
                </a:solidFill>
              </a:defRPr>
            </a:pPr>
            <a:r>
              <a:rPr sz="1650" b="1">
                <a:solidFill>
                  <a:srgbClr val="1D1D1F"/>
                </a:solidFill>
              </a:rPr>
              <a:t>B2B TAM · E계열 취업비자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42A3F0-BF6C-4649-ACE1-4FAB485D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339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700" b="1">
                <a:solidFill>
                  <a:srgbClr val="0066CC"/>
                </a:solidFill>
              </a:defRPr>
            </a:pPr>
            <a:r>
              <a:rPr sz="2700" b="1">
                <a:solidFill>
                  <a:srgbClr val="0066CC"/>
                </a:solidFill>
              </a:rPr>
              <a:t>49만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0CE09A-CA72-449B-B519-997445AB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862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1D1F"/>
                </a:solidFill>
              </a:defRPr>
            </a:pPr>
            <a:r>
              <a:rPr sz="1800" b="1">
                <a:solidFill>
                  <a:srgbClr val="1D1D1F"/>
                </a:solidFill>
              </a:rPr>
              <a:t>시장 해석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E2F282-4A09-4763-BFFC-D6B06B4F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14875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33333"/>
                </a:solidFill>
              </a:defRPr>
            </a:pPr>
            <a:r>
              <a:rPr sz="1425">
                <a:solidFill>
                  <a:srgbClr val="333333"/>
                </a:solidFill>
              </a:rPr>
              <a:t>B2B는 지불의사와 데이터 입구,</a:t>
            </a:r>
          </a:p>
          <a:p xmlns:a="http://schemas.openxmlformats.org/drawingml/2006/main">
            <a:pPr>
              <a:defRPr sz="1425">
                <a:solidFill>
                  <a:srgbClr val="333333"/>
                </a:solidFill>
              </a:defRPr>
            </a:pPr>
            <a:r>
              <a:rPr sz="1425">
                <a:solidFill>
                  <a:srgbClr val="333333"/>
                </a:solidFill>
              </a:rPr>
              <a:t>B2C는 규모와 금융 LTV입니다.</a:t>
            </a:r>
          </a:p>
          <a:p xmlns:a="http://schemas.openxmlformats.org/drawingml/2006/main">
            <a:pPr>
              <a:defRPr sz="1425">
                <a:solidFill>
                  <a:srgbClr val="333333"/>
                </a:solidFill>
              </a:defRPr>
            </a:pPr>
            <a:r>
              <a:rPr sz="1425">
                <a:solidFill>
                  <a:srgbClr val="333333"/>
                </a:solidFill>
              </a:rPr>
              <a:t>둘을 분리하지 않고 연결하는 것이</a:t>
            </a:r>
          </a:p>
          <a:p xmlns:a="http://schemas.openxmlformats.org/drawingml/2006/main">
            <a:pPr>
              <a:defRPr sz="1425">
                <a:solidFill>
                  <a:srgbClr val="333333"/>
                </a:solidFill>
              </a:defRPr>
            </a:pPr>
            <a:r>
              <a:rPr sz="1425">
                <a:solidFill>
                  <a:srgbClr val="333333"/>
                </a:solidFill>
              </a:rPr>
              <a:t>PlugNX의 핵심 구조입니다.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E4CC15-8019-44DA-AA9F-A100C0D0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A7A7A"/>
                </a:solidFill>
              </a:defRPr>
            </a:pPr>
            <a:r>
              <a:rPr sz="825">
                <a:solidFill>
                  <a:srgbClr val="7A7A7A"/>
                </a:solidFill>
              </a:rPr>
              <a:t>Source: PROJECT.md SSOT · 사업기획서 v1.0 · handoff/codex-business-case-fixes.md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071ECE-7DFA-4276-85F9-086B3564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7A7A7A"/>
                </a:solidFill>
              </a:defRPr>
            </a:pPr>
            <a:r>
              <a:rPr sz="975">
                <a:solidFill>
                  <a:srgbClr val="7A7A7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913896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54937D-1C81-4FBB-9357-0BEBC771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D1D1F"/>
                </a:solidFill>
              </a:defRPr>
            </a:pPr>
            <a:r>
              <a:rPr sz="1425" b="1">
                <a:solidFill>
                  <a:srgbClr val="1D1D1F"/>
                </a:solidFill>
              </a:rPr>
              <a:t>PLUGnx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BAAE34-01EB-4CE7-9F96-294592F2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1D1F"/>
                </a:solidFill>
              </a:defRPr>
            </a:pPr>
            <a:r>
              <a:rPr sz="2925" b="1">
                <a:solidFill>
                  <a:srgbClr val="1D1D1F"/>
                </a:solidFill>
              </a:rPr>
              <a:t>고객 Pain · 채용 이후가 가장 비어 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248DFA-B4ED-4B5C-BB7A-A11A239E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3333"/>
                </a:solidFill>
              </a:defRPr>
            </a:pPr>
            <a:r>
              <a:rPr sz="1575">
                <a:solidFill>
                  <a:srgbClr val="333333"/>
                </a:solidFill>
              </a:rPr>
              <a:t>고용주는 준법 리스크를, 근로자는 미수령 권리와 임금·금융 문제를 겪습니다.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039613-35DD-4429-A40F-CE0B53F7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3238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C60C6-D178-4916-A000-56DEF5A8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62200"/>
            <a:ext cx="1104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AFAFC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5CDFC4-52CD-4E32-9A9C-7E9A3DD6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4288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66CC"/>
                </a:solidFill>
              </a:defRPr>
            </a:pPr>
            <a:r>
              <a:rPr sz="975" b="1">
                <a:solidFill>
                  <a:srgbClr val="0066CC"/>
                </a:solidFill>
              </a:rPr>
              <a:t>기업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26E455-12B8-430A-BF10-32491593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278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1D1F"/>
                </a:solidFill>
              </a:defRPr>
            </a:pPr>
            <a:r>
              <a:rPr sz="1800" b="1">
                <a:solidFill>
                  <a:srgbClr val="1D1D1F"/>
                </a:solidFill>
              </a:rPr>
              <a:t>외국인 고용 후 준법관리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F86A45-083E-45B3-998B-91003081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27813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3333"/>
                </a:solidFill>
              </a:defRPr>
            </a:pPr>
            <a:r>
              <a:rPr sz="1275">
                <a:solidFill>
                  <a:srgbClr val="333333"/>
                </a:solidFill>
              </a:rPr>
              <a:t>체류 만료, 고용변동 신고, 임금요건, 서류 보관을 엑셀·기억·행정사 단건 대응에 의존합니다.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BAD2D2-147C-45CF-9619-B828079D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52650"/>
            <a:ext cx="3238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ACA341-063E-439D-B3A6-3005F180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62200"/>
            <a:ext cx="1104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AFAFC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EAB060-22A1-442F-891B-99F16A77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288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9F6E"/>
                </a:solidFill>
              </a:defRPr>
            </a:pPr>
            <a:r>
              <a:rPr sz="975" b="1">
                <a:solidFill>
                  <a:srgbClr val="0F9F6E"/>
                </a:solidFill>
              </a:rPr>
              <a:t>근로자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237227-37CF-484C-B2E9-97234A8D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38450"/>
            <a:ext cx="278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1D1F"/>
                </a:solidFill>
              </a:defRPr>
            </a:pPr>
            <a:r>
              <a:rPr sz="1800" b="1">
                <a:solidFill>
                  <a:srgbClr val="1D1D1F"/>
                </a:solidFill>
              </a:rPr>
              <a:t>받을 돈을 모국어로 모름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59D908-DCDE-4942-928B-90F96140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57550"/>
            <a:ext cx="27813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3333"/>
                </a:solidFill>
              </a:defRPr>
            </a:pPr>
            <a:r>
              <a:rPr sz="1275">
                <a:solidFill>
                  <a:srgbClr val="333333"/>
                </a:solidFill>
              </a:rPr>
              <a:t>국민연금 반환일시금, 퇴직금, 출국만기보험, 귀국비용보험, 임금체불 가능성을 한 곳에서 확인하기 어렵습니다.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81CE99-D725-4770-BD51-A9707FAC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52650"/>
            <a:ext cx="3238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BE4408-328C-49D9-97B1-DABBFD01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62200"/>
            <a:ext cx="1104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AFAFC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E291EF-3EFE-4F7B-8A11-904F54E9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4288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9E0B"/>
                </a:solidFill>
              </a:defRPr>
            </a:pPr>
            <a:r>
              <a:rPr sz="975" b="1">
                <a:solidFill>
                  <a:srgbClr val="F59E0B"/>
                </a:solidFill>
              </a:rPr>
              <a:t>금융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08D857-1EA7-4C0E-8453-76A8D77E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38450"/>
            <a:ext cx="278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1D1F"/>
                </a:solidFill>
              </a:defRPr>
            </a:pPr>
            <a:r>
              <a:rPr sz="1800" b="1">
                <a:solidFill>
                  <a:srgbClr val="1D1D1F"/>
                </a:solidFill>
              </a:rPr>
              <a:t>외국인 thin-file 문제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A31D2B-4D87-4730-AB58-A96D146B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57550"/>
            <a:ext cx="27813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3333"/>
                </a:solidFill>
              </a:defRPr>
            </a:pPr>
            <a:r>
              <a:rPr sz="1275">
                <a:solidFill>
                  <a:srgbClr val="333333"/>
                </a:solidFill>
              </a:rPr>
              <a:t>계좌는 열려도 여신·신용평가·대안데이터는 제한적입니다. 실제 재직·소득 데이터가 가장 귀한 입력값입니다.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2D707A-3AA1-4700-968A-1813865B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191125"/>
            <a:ext cx="8667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574687-0E0C-4978-B989-33DF1FF4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62575"/>
            <a:ext cx="800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D1D1F"/>
                </a:solidFill>
              </a:defRPr>
            </a:pPr>
            <a:r>
              <a:rPr sz="1500">
                <a:solidFill>
                  <a:srgbClr val="1D1D1F"/>
                </a:solidFill>
              </a:rPr>
              <a:t>JTBD: 기업은 외국인 인력을 안심하고 계속 쓰고 싶고, 근로자는 한국에서 일한 대가를 잃지 않고 안전하게 가져가고 싶습니다.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A7C181-945D-4818-A0D1-A2AB42BF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A7A7A"/>
                </a:solidFill>
              </a:defRPr>
            </a:pPr>
            <a:r>
              <a:rPr sz="825">
                <a:solidFill>
                  <a:srgbClr val="7A7A7A"/>
                </a:solidFill>
              </a:rPr>
              <a:t>Source: handoff/why-foreign-market.md · output/business-case-research/99-synthesis.md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F2AB37-2632-4E33-9E24-9484049E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7A7A7A"/>
                </a:solidFill>
              </a:defRPr>
            </a:pPr>
            <a:r>
              <a:rPr sz="975">
                <a:solidFill>
                  <a:srgbClr val="7A7A7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021746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1BEC2B-6211-4AC3-B44F-8E301717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D1D1F"/>
                </a:solidFill>
              </a:defRPr>
            </a:pPr>
            <a:r>
              <a:rPr sz="1425" b="1">
                <a:solidFill>
                  <a:srgbClr val="1D1D1F"/>
                </a:solidFill>
              </a:rPr>
              <a:t>PLUGnx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C26943-FE2F-4EE7-8952-C9708860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1D1F"/>
                </a:solidFill>
              </a:defRPr>
            </a:pPr>
            <a:r>
              <a:rPr sz="2925" b="1">
                <a:solidFill>
                  <a:srgbClr val="1D1D1F"/>
                </a:solidFill>
              </a:rPr>
              <a:t>경쟁 공백 · 양면 결합은 비어 있음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735739-78BE-415B-AAB1-9CF55BE3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3333"/>
                </a:solidFill>
              </a:defRPr>
            </a:pPr>
            <a:r>
              <a:rPr sz="1575">
                <a:solidFill>
                  <a:srgbClr val="333333"/>
                </a:solidFill>
              </a:rPr>
              <a:t>B2B 고용데이터와 B2C 환급·금융을 인증 인프라로 묶은 사업자는 공개 출처상 미확인입니다.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D09EE4-3859-4C61-8EB8-09A59173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43125"/>
            <a:ext cx="4953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338140-8D6B-4C9E-9F22-8DCD6A09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43125"/>
            <a:ext cx="2476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1B240E-6A03-447B-B61C-F76A2485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43125"/>
            <a:ext cx="4953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D0726F-563B-40D3-BEB0-20F60DBD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48275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A7A7A"/>
                </a:solidFill>
              </a:defRPr>
            </a:pPr>
            <a:r>
              <a:rPr sz="1050">
                <a:solidFill>
                  <a:srgbClr val="7A7A7A"/>
                </a:solidFill>
              </a:rPr>
              <a:t>단변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0A3F95-67FC-4FF9-969F-61D77191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24827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7A7A7A"/>
                </a:solidFill>
              </a:defRPr>
            </a:pPr>
            <a:r>
              <a:rPr sz="1050">
                <a:solidFill>
                  <a:srgbClr val="7A7A7A"/>
                </a:solidFill>
              </a:rPr>
              <a:t>양면 B2B↔B2C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D4BF03-0500-4573-A34B-20D2561D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4822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7A7A7A"/>
                </a:solidFill>
              </a:defRPr>
            </a:pPr>
            <a:r>
              <a:rPr sz="1050">
                <a:solidFill>
                  <a:srgbClr val="7A7A7A"/>
                </a:solidFill>
              </a:rPr>
              <a:t>중개·앱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B239B8-9313-41CB-A1ED-AD972780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14575"/>
            <a:ext cx="838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7A7A7A"/>
                </a:solidFill>
              </a:defRPr>
            </a:pPr>
            <a:r>
              <a:rPr sz="1050">
                <a:solidFill>
                  <a:srgbClr val="7A7A7A"/>
                </a:solidFill>
              </a:rPr>
              <a:t>인증·데이터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FFF666-07F7-478E-B350-FDC8F724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3387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7A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E0F3E8-8507-42F1-996F-81A10FA9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5624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송금 핀테크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1D3C89-EC50-4446-87A4-867E4F8D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6196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7A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D9FC6A-FE1C-4A10-8C8C-FC142233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4822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삼쩜삼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F23F2A-7D83-4E23-A76B-2075EFA2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3387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F3A338-308B-4984-91D2-FDF9CB6F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5624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glow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AC79A6-E0DC-4531-B6DC-D23C9336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66700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FECB21-2649-4D09-B3FF-C12F75EE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956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자블리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F937C6-8071-471B-B381-03C2484F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670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EEA8E8-29A5-44D1-9AC3-834E0AC4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962275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PlugNX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434463-DFF3-4416-81A7-B3A30719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90750"/>
            <a:ext cx="371475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436A13-98CE-4D2A-AEC9-57FC3125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00300"/>
            <a:ext cx="1104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AFAFC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7D4B2C-D160-4B31-A2A5-0FD998CC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669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9F6E"/>
                </a:solidFill>
              </a:defRPr>
            </a:pPr>
            <a:r>
              <a:rPr sz="975" b="1">
                <a:solidFill>
                  <a:srgbClr val="0F9F6E"/>
                </a:solidFill>
              </a:rPr>
              <a:t>White Space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F02528-60DE-4CEB-BC5E-073A1506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76550"/>
            <a:ext cx="3257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1D1F"/>
                </a:solidFill>
              </a:defRPr>
            </a:pPr>
            <a:r>
              <a:rPr sz="1800" b="1">
                <a:solidFill>
                  <a:srgbClr val="1D1D1F"/>
                </a:solidFill>
              </a:rPr>
              <a:t>PlugNX의 차별점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8F4E83-E07D-487D-ABA2-6A4C55C6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295650"/>
            <a:ext cx="32575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3333"/>
                </a:solidFill>
              </a:defRPr>
            </a:pPr>
            <a:r>
              <a:rPr sz="1275">
                <a:solidFill>
                  <a:srgbClr val="333333"/>
                </a:solidFill>
              </a:rPr>
              <a:t>VisaDesk의 고용·임금·체류 데이터와 Moneeback의 환급·금융 수요를 ForeignID로 연결합니다. 경쟁사는 대부분 채용, 생활정보, 송금, 유학생 행정처럼 한쪽 면에 머뭅니다.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F788DA-C5B4-418A-B563-C7C62D3D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A7A7A"/>
                </a:solidFill>
              </a:defRPr>
            </a:pPr>
            <a:r>
              <a:rPr sz="825">
                <a:solidFill>
                  <a:srgbClr val="7A7A7A"/>
                </a:solidFill>
              </a:rPr>
              <a:t>Source: handoff/research-foreign-landscape.md · handoff/research-b2c-apps.md · handoff/research-b2b-visa-saas.md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B3E408-DE9C-4A55-8B15-0D54F2D9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7A7A7A"/>
                </a:solidFill>
              </a:defRPr>
            </a:pPr>
            <a:r>
              <a:rPr sz="975">
                <a:solidFill>
                  <a:srgbClr val="7A7A7A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526004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A12DFF-EBCD-4E01-ABA7-0091C596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D1D1F"/>
                </a:solidFill>
              </a:defRPr>
            </a:pPr>
            <a:r>
              <a:rPr sz="1425" b="1">
                <a:solidFill>
                  <a:srgbClr val="1D1D1F"/>
                </a:solidFill>
              </a:rPr>
              <a:t>PLUGnx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781820-E29E-47D6-8F2D-211F1733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1D1F"/>
                </a:solidFill>
              </a:defRPr>
            </a:pPr>
            <a:r>
              <a:rPr sz="2925" b="1">
                <a:solidFill>
                  <a:srgbClr val="1D1D1F"/>
                </a:solidFill>
              </a:rPr>
              <a:t>해법 · 양면 플라이휠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345E9C-10F6-487B-8A5E-BCC86287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3333"/>
                </a:solidFill>
              </a:defRPr>
            </a:pPr>
            <a:r>
              <a:rPr sz="1575">
                <a:solidFill>
                  <a:srgbClr val="333333"/>
                </a:solidFill>
              </a:rPr>
              <a:t>기업에서 시작해 근로자 앱으로 확장하고, 인증·금융 데이터로 방어력을 만듭니다.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3ECEB5-4D8A-4169-94F6-B3E24422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81250"/>
            <a:ext cx="2476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6085A6-034D-4DE7-88D0-FA122296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860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VisaDesk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B66E0A-9B35-4934-A24E-DAA15C3C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38500"/>
            <a:ext cx="195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기업이 근로자 등록</a:t>
            </a:r>
          </a:p>
          <a:p xmlns:a="http://schemas.openxmlformats.org/drawingml/2006/main">
            <a:pPr algn="ctr"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체류·임금·서류 관리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3FBCF5-E3EA-4116-9AA6-70D977FF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81250"/>
            <a:ext cx="2476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2727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A4672A-03FE-4604-8978-76C22438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860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ForeignID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0C3B2D-7607-4917-9524-00D081BF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38500"/>
            <a:ext cx="195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여권·ARC·계좌 인증</a:t>
            </a:r>
          </a:p>
          <a:p xmlns:a="http://schemas.openxmlformats.org/drawingml/2006/main">
            <a:pPr algn="ctr"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동의 기반 신원 레이어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5ED29-05E2-4E92-8408-DC753FE5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81250"/>
            <a:ext cx="2476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0F9F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F83B2E-8BE8-456B-BDE0-76D51EE4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860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Moneeback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A3A448-A2CC-4F00-9550-99ACBAB4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38500"/>
            <a:ext cx="195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근로자 환급·급여 점검</a:t>
            </a:r>
          </a:p>
          <a:p xmlns:a="http://schemas.openxmlformats.org/drawingml/2006/main">
            <a:pPr algn="ctr"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금융 연결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33FF45-3DD2-4E55-A30C-D0C72945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28612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66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540562-71B7-49B3-B1CE-CFD9EEF6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28612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66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7961C0-6F08-421A-AF4F-92E62C13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10125"/>
            <a:ext cx="7429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4EEC74-C00D-49D1-953E-2FA2F6FA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101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1D1F"/>
                </a:solidFill>
              </a:defRPr>
            </a:pPr>
            <a:r>
              <a:rPr sz="1650" b="1">
                <a:solidFill>
                  <a:srgbClr val="1D1D1F"/>
                </a:solidFill>
              </a:rPr>
              <a:t>KPI: 근로자 Moneeback 유입 60%+ · B2C 한계 CAC 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C6A73E-255A-49FF-8AAD-DAFACC18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A7A7A"/>
                </a:solidFill>
              </a:defRPr>
            </a:pPr>
            <a:r>
              <a:rPr sz="825">
                <a:solidFill>
                  <a:srgbClr val="7A7A7A"/>
                </a:solidFill>
              </a:rPr>
              <a:t>Source: PROJECT.md SSOT · output/starter-pack/10-moneeback-feature-prd.md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D60748-988F-41EB-BF87-D90563E8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7A7A7A"/>
                </a:solidFill>
              </a:defRPr>
            </a:pPr>
            <a:r>
              <a:rPr sz="975">
                <a:solidFill>
                  <a:srgbClr val="7A7A7A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690999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C889E0-F661-46C4-AED8-67983010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D1D1F"/>
                </a:solidFill>
              </a:defRPr>
            </a:pPr>
            <a:r>
              <a:rPr sz="1425" b="1">
                <a:solidFill>
                  <a:srgbClr val="1D1D1F"/>
                </a:solidFill>
              </a:rPr>
              <a:t>PLUGnx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B7E1FD-F5AA-4689-AAD3-E73CF707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1D1F"/>
                </a:solidFill>
              </a:defRPr>
            </a:pPr>
            <a:r>
              <a:rPr sz="2925" b="1">
                <a:solidFill>
                  <a:srgbClr val="1D1D1F"/>
                </a:solidFill>
              </a:rPr>
              <a:t>제품 화면 전 선행 장표 · 시장규모를 먼저 설득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D30E12-66B3-4807-8C22-6D015550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3333"/>
                </a:solidFill>
              </a:defRPr>
            </a:pPr>
            <a:r>
              <a:rPr sz="1575">
                <a:solidFill>
                  <a:srgbClr val="333333"/>
                </a:solidFill>
              </a:rPr>
              <a:t>앞단에서는 시장 모수와 양면 구조를 한눈에 보여주고, 다음 장부터 화면으로 들어갑니다.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0dd4e9772e40c4"/>
          <a:stretch xmlns:a="http://schemas.openxmlformats.org/drawingml/2006/main"/>
        </p:blipFill>
        <p:spPr>
          <a:xfrm xmlns:a="http://schemas.openxmlformats.org/drawingml/2006/main">
            <a:off x="2440343" y="1809750"/>
            <a:ext cx="7311313" cy="4114800"/>
          </a:xfrm>
          <a:prstGeom xmlns:a="http://schemas.openxmlformats.org/drawingml/2006/main" prst="roundRect">
            <a:avLst>
              <a:gd name="adj" fmla="val 2778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958809-0898-469A-A11C-B9988FCF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A7A7A"/>
                </a:solidFill>
              </a:defRPr>
            </a:pPr>
            <a:r>
              <a:rPr sz="825">
                <a:solidFill>
                  <a:srgbClr val="7A7A7A"/>
                </a:solidFill>
              </a:rPr>
              <a:t>Visual: generated market-size slide using PROJECT.md SSOT values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B51CB5-1B1D-44E5-840A-CF45BDFB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7A7A7A"/>
                </a:solidFill>
              </a:defRPr>
            </a:pPr>
            <a:r>
              <a:rPr sz="975">
                <a:solidFill>
                  <a:srgbClr val="7A7A7A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421919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F08BD6-2D88-41D3-8C58-0124D823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D1D1F"/>
                </a:solidFill>
              </a:defRPr>
            </a:pPr>
            <a:r>
              <a:rPr sz="1425" b="1">
                <a:solidFill>
                  <a:srgbClr val="1D1D1F"/>
                </a:solidFill>
              </a:rPr>
              <a:t>PLUGnx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36A0B8-43FC-42B0-BE1E-9AEEAAB0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1D1F"/>
                </a:solidFill>
              </a:defRPr>
            </a:pPr>
            <a:r>
              <a:rPr sz="2925" b="1">
                <a:solidFill>
                  <a:srgbClr val="1D1D1F"/>
                </a:solidFill>
              </a:rPr>
              <a:t>Moneeback · 외국인 근로자가 실제로 하는 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DA35BD-6A61-4009-93C7-F0654001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3333"/>
                </a:solidFill>
              </a:defRPr>
            </a:pPr>
            <a:r>
              <a:rPr sz="1575">
                <a:solidFill>
                  <a:srgbClr val="333333"/>
                </a:solidFill>
              </a:rPr>
              <a:t>언어 선택부터 환급 추정, 비식별 인터뷰, 서류 업로드, 급여 적정성 AI, 지급 대기까지.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f07051c8c74592"/>
          <a:stretch xmlns:a="http://schemas.openxmlformats.org/drawingml/2006/main"/>
        </p:blipFill>
        <p:spPr>
          <a:xfrm xmlns:a="http://schemas.openxmlformats.org/drawingml/2006/main">
            <a:off x="2450765" y="1714500"/>
            <a:ext cx="729047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16C29C-B739-41E1-A61A-70E255E3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A7A7A"/>
                </a:solidFill>
              </a:defRPr>
            </a:pPr>
            <a:r>
              <a:rPr sz="825">
                <a:solidFill>
                  <a:srgbClr val="7A7A7A"/>
                </a:solidFill>
              </a:rPr>
              <a:t>Visual: Moneeback B2C app-only concept · 모든 금액은 추정/참고용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C81FF8-15E2-435B-BB6E-8D9B12DA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7A7A7A"/>
                </a:solidFill>
              </a:defRPr>
            </a:pPr>
            <a:r>
              <a:rPr sz="975">
                <a:solidFill>
                  <a:srgbClr val="7A7A7A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529256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968E09-C427-4149-9066-6A6962A3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D1D1F"/>
                </a:solidFill>
              </a:defRPr>
            </a:pPr>
            <a:r>
              <a:rPr sz="1425" b="1">
                <a:solidFill>
                  <a:srgbClr val="1D1D1F"/>
                </a:solidFill>
              </a:rPr>
              <a:t>PLUGnx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D884D3-E3CC-4711-81E0-8D2E6A82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1D1F"/>
                </a:solidFill>
              </a:defRPr>
            </a:pPr>
            <a:r>
              <a:rPr sz="2925" b="1">
                <a:solidFill>
                  <a:srgbClr val="1D1D1F"/>
                </a:solidFill>
              </a:rPr>
              <a:t>VisaDesk · ForeignID · 운영과 인증의 실제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142C82-F934-431C-8953-F9C482CF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3333"/>
                </a:solidFill>
              </a:defRPr>
            </a:pPr>
            <a:r>
              <a:rPr sz="1575">
                <a:solidFill>
                  <a:srgbClr val="333333"/>
                </a:solidFill>
              </a:rPr>
              <a:t>기업 준법 대시보드와 외국인 인증 앱이 Moneeback 사용 흐름을 받쳐줍니다.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1fbdd0476942ca"/>
          <a:stretch xmlns:a="http://schemas.openxmlformats.org/drawingml/2006/main"/>
        </p:blipFill>
        <p:spPr>
          <a:xfrm xmlns:a="http://schemas.openxmlformats.org/drawingml/2006/main">
            <a:off x="1083469" y="1905000"/>
            <a:ext cx="4500563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28c35a4c494db5"/>
          <a:stretch xmlns:a="http://schemas.openxmlformats.org/drawingml/2006/main"/>
        </p:blipFill>
        <p:spPr>
          <a:xfrm xmlns:a="http://schemas.openxmlformats.org/drawingml/2006/main">
            <a:off x="6192667" y="1905000"/>
            <a:ext cx="5331166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CC58A1-920D-4B8D-80BA-A59C86F5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1D1F"/>
                </a:solidFill>
              </a:defRPr>
            </a:pPr>
            <a:r>
              <a:rPr sz="1350" b="1">
                <a:solidFill>
                  <a:srgbClr val="1D1D1F"/>
                </a:solidFill>
              </a:rPr>
              <a:t>관리자 웹 대시보드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61C954-9AB4-45EC-8FD8-B3C74CFB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9587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1D1F"/>
                </a:solidFill>
              </a:defRPr>
            </a:pPr>
            <a:r>
              <a:rPr sz="1350" b="1">
                <a:solidFill>
                  <a:srgbClr val="1D1D1F"/>
                </a:solidFill>
              </a:rPr>
              <a:t>외국인 인증 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432AB8-2139-450F-ABAC-69555A79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A7A7A"/>
                </a:solidFill>
              </a:defRPr>
            </a:pPr>
            <a:r>
              <a:rPr sz="825">
                <a:solidFill>
                  <a:srgbClr val="7A7A7A"/>
                </a:solidFill>
              </a:rPr>
              <a:t>Visual: VisaDesk dashboard and ForeignID app concept screens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D10948-580C-4846-AA18-018EE3A1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7A7A7A"/>
                </a:solidFill>
              </a:defRPr>
            </a:pPr>
            <a:r>
              <a:rPr sz="975">
                <a:solidFill>
                  <a:srgbClr val="7A7A7A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396721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2727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AA882B-CD6E-4C1A-868D-D0F42B85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PLUGnx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63187E-8C75-41A0-94F6-5808F3E1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90일 검증 로드맵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73CC4D-CB68-4025-AD04-73C67F4E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CCCCCC"/>
                </a:solidFill>
              </a:defRPr>
            </a:pPr>
            <a:r>
              <a:rPr sz="1575">
                <a:solidFill>
                  <a:srgbClr val="CCCCCC"/>
                </a:solidFill>
              </a:rPr>
              <a:t>시장 주장보다 중요한 것은 빠른 실측입니다.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444453-50B7-4E8F-8FF0-0BD11C43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3625"/>
            <a:ext cx="2952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2A2A2C"/>
          </a:solidFill>
          <a:ln xmlns:a="http://schemas.openxmlformats.org/drawingml/2006/main" w="9525">
            <a:solidFill>
              <a:srgbClr val="4A4A4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515203-81C7-495F-A903-D4F3F7C4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193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997FF"/>
                </a:solidFill>
              </a:defRPr>
            </a:pPr>
            <a:r>
              <a:rPr sz="1950" b="1">
                <a:solidFill>
                  <a:srgbClr val="2997FF"/>
                </a:solidFill>
              </a:rPr>
              <a:t>0-30일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840966-0D01-49A2-8B59-F7DED151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956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비치헤드 확정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E1F3D8-4F35-40B0-9ED5-07BAD6D8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0450"/>
            <a:ext cx="2428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CCCCCC"/>
                </a:solidFill>
              </a:defRPr>
            </a:pPr>
            <a:r>
              <a:rPr sz="1275">
                <a:solidFill>
                  <a:srgbClr val="CCCCCC"/>
                </a:solidFill>
              </a:rPr>
              <a:t>비수도권 제조 · 외국인 10~80명 · HR 부재 기업 인터뷰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E5E177-09D2-470A-B8FC-F4F6BF6F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33625"/>
            <a:ext cx="2952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45FB3C-67F0-4237-84DD-F418E07A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193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66CC"/>
                </a:solidFill>
              </a:defRPr>
            </a:pPr>
            <a:r>
              <a:rPr sz="1950" b="1">
                <a:solidFill>
                  <a:srgbClr val="0066CC"/>
                </a:solidFill>
              </a:rPr>
              <a:t>30-60일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986B11-EF55-48BF-AD96-8D4D7773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956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1D1F"/>
                </a:solidFill>
              </a:defRPr>
            </a:pPr>
            <a:r>
              <a:rPr sz="1800" b="1">
                <a:solidFill>
                  <a:srgbClr val="1D1D1F"/>
                </a:solidFill>
              </a:rPr>
              <a:t>PoC 영업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F8AF08-5BEE-4CF7-8205-92CD51E7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00450"/>
            <a:ext cx="2428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3333"/>
                </a:solidFill>
              </a:defRPr>
            </a:pPr>
            <a:r>
              <a:rPr sz="1275">
                <a:solidFill>
                  <a:srgbClr val="333333"/>
                </a:solidFill>
              </a:rPr>
              <a:t>15사 유료/LOI 목표, 리스크 리포트와 전문가 라우팅 검증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FE0131-87A1-460B-9F62-48BCAF84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33625"/>
            <a:ext cx="2952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2A2A2C"/>
          </a:solidFill>
          <a:ln xmlns:a="http://schemas.openxmlformats.org/drawingml/2006/main" w="9525">
            <a:solidFill>
              <a:srgbClr val="4A4A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EFF4AB-BB53-4A10-BE73-2FB1D639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193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997FF"/>
                </a:solidFill>
              </a:defRPr>
            </a:pPr>
            <a:r>
              <a:rPr sz="1950" b="1">
                <a:solidFill>
                  <a:srgbClr val="2997FF"/>
                </a:solidFill>
              </a:rPr>
              <a:t>60-90일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E16AC0-7AF5-475B-9256-E8178FA9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956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플라이휠 실측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A77B07-5880-444F-924F-3114EE78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00450"/>
            <a:ext cx="2428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CCCCCC"/>
                </a:solidFill>
              </a:defRPr>
            </a:pPr>
            <a:r>
              <a:rPr sz="1275">
                <a:solidFill>
                  <a:srgbClr val="CCCCCC"/>
                </a:solidFill>
              </a:rPr>
              <a:t>근로자 Moneeback opt-in 60%+와 B2C 진단 완료율 측정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C797DC-AFF1-44B3-8B4B-E94F883D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191125"/>
            <a:ext cx="86106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017E10-C2A7-48FE-B654-7B3A8C2F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62575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1D1F"/>
                </a:solidFill>
              </a:defRPr>
            </a:pPr>
            <a:r>
              <a:rPr sz="1500" b="1">
                <a:solidFill>
                  <a:srgbClr val="1D1D1F"/>
                </a:solidFill>
              </a:rPr>
              <a:t>원칙: 비자·환급·신용 판단은 확정/대행이 아니라 참고용 안내와 전문가 라우팅으로 시작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37678E-16B5-4E65-AC47-E93A0296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A7A7A"/>
                </a:solidFill>
              </a:defRPr>
            </a:pPr>
            <a:r>
              <a:rPr sz="825">
                <a:solidFill>
                  <a:srgbClr val="7A7A7A"/>
                </a:solidFill>
              </a:rPr>
              <a:t>Source: output/starter-pack/09-visadesk-poc-launch-plan.md · PROJECT.md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0CD472-7059-4AC0-839C-ADC18ED1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7A7A7A"/>
                </a:solidFill>
              </a:defRPr>
            </a:pPr>
            <a:r>
              <a:rPr sz="975">
                <a:solidFill>
                  <a:srgbClr val="7A7A7A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200575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2026-06-25T08:03:09.5740000Z</dcterms:created>
  <dcterms:modified xsi:type="dcterms:W3CDTF">2026-06-25T08:03:09.5740000Z</dcterms:modified>
</coreProperties>
</file>