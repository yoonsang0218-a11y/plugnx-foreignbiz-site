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60">
                <a:solidFill>
                  <a:srgbClr val="1A4FD8"/>
                </a:solidFill>
                <a:latin typeface="Malgun Gothic"/>
                <a:ea typeface="Malgun Gothic"/>
                <a:cs typeface="Malgun Gothic"/>
              </a:rPr>
              <a:t>Appendix: 외국인 재직관리·환급 사업 — ① 추진배경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85855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3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정부 정책이 '들어온 외국인을 오래·합법으로 붙드는 인프라'로 이동 — '채용 이후'는 무주공산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783080"/>
            <a:ext cx="11185855" cy="0"/>
          </a:xfrm>
          <a:prstGeom prst="bentConnector3">
            <a:avLst/>
          </a:prstGeom>
          <a:ln w="12700">
            <a:solidFill>
              <a:srgbClr val="D7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02920" y="1938528"/>
            <a:ext cx="1051560" cy="841248"/>
          </a:xfrm>
          <a:prstGeom prst="roundRect">
            <a:avLst/>
          </a:prstGeom>
          <a:solidFill>
            <a:srgbClr val="1E2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938528"/>
            <a:ext cx="105156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배경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19072" y="1938528"/>
            <a:ext cx="9969703" cy="841248"/>
          </a:xfrm>
          <a:prstGeom prst="round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8528" y="1984248"/>
            <a:ext cx="9567367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체류외국인 278.3만 시대 — 기업은 엑셀로 관리하고, 근로자는 받을 돈을 놓치며, 금융사는 외국인을 평가 못 한다. 세 통증을 같은 데이터로 푸는 빈 공간. 당사 인증(ForeignID)·금융권(케이뱅크 등) 관계가 그대로 진입 자산.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063240"/>
            <a:ext cx="3545738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64408"/>
            <a:ext cx="308853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1E2B57"/>
                </a:solidFill>
                <a:latin typeface="Malgun Gothic"/>
                <a:ea typeface="Malgun Gothic"/>
                <a:cs typeface="Malgun Gothic"/>
              </a:rPr>
              <a:t>① 세 통증 동시 발생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76472"/>
            <a:ext cx="3088538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A4FD8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기업 — 비자만료·자격외취업 시 사업주 제재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A4FD8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근로자 — 미수령 환급·금융 접근 부재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A4FD8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금융사 — 외국인 thin-file(신용정보 부재)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2978" y="3063240"/>
            <a:ext cx="3545738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1578" y="3264408"/>
            <a:ext cx="308853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1E2B57"/>
                </a:solidFill>
                <a:latin typeface="Malgun Gothic"/>
                <a:ea typeface="Malgun Gothic"/>
                <a:cs typeface="Malgun Gothic"/>
              </a:rPr>
              <a:t>② 정책 골든윈도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1578" y="3776472"/>
            <a:ext cx="3088538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A4FD8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기조 「양적 확대」 → 「수급 안정+관리·신뢰」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A4FD8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E-7-4 숙련전환 점수제(107개 지역) 〔법무부〕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A4FD8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기본인적정보 ICAO 표준·비금융 대안신용 확대 〔금융위〕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43036" y="3063240"/>
            <a:ext cx="3545738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1636" y="3264408"/>
            <a:ext cx="308853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1E2B57"/>
                </a:solidFill>
                <a:latin typeface="Malgun Gothic"/>
                <a:ea typeface="Malgun Gothic"/>
                <a:cs typeface="Malgun Gothic"/>
              </a:rPr>
              <a:t>③ 빈 공간 (무주공산)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1636" y="3776472"/>
            <a:ext cx="3088538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A4FD8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'채용 이후 통합관리+환급+양면데이터' 보유사 없음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A4FD8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경쟁사는 입국 전·유학생·채용입구·생활정보에 분산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A4FD8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→ 당사가 메울 공백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5779008"/>
            <a:ext cx="11185855" cy="0"/>
          </a:xfrm>
          <a:prstGeom prst="bentConnector3">
            <a:avLst/>
          </a:prstGeom>
          <a:ln w="12700">
            <a:solidFill>
              <a:srgbClr val="D7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5888736"/>
            <a:ext cx="111858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1">
                <a:solidFill>
                  <a:srgbClr val="1A4FD8"/>
                </a:solidFill>
                <a:latin typeface="Malgun Gothic"/>
                <a:ea typeface="Malgun Gothic"/>
                <a:cs typeface="Malgun Gothic"/>
              </a:rPr>
              <a:t>▶  </a:t>
            </a:r>
            <a:r>
              <a:rPr sz="1300" b="1">
                <a:solidFill>
                  <a:srgbClr val="1A4FD8"/>
                </a:solidFill>
                <a:latin typeface="Malgun Gothic"/>
                <a:ea typeface="Malgun Gothic"/>
                <a:cs typeface="Malgun Gothic"/>
              </a:rPr>
              <a:t>기업 관리부담↑ + 근로자 권익공백 + 금융 thin-file이 동시에 커진다 → 같은 데이터 하나로 푸는 인프라 기회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00885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707683"/>
                </a:solidFill>
                <a:latin typeface="Malgun Gothic"/>
                <a:ea typeface="Malgun Gothic"/>
                <a:cs typeface="Malgun Gothic"/>
              </a:rPr>
              <a:t>참고용·법적효력 없음. 재무수치는 목표·가정이며 PoC·LOI 실측 대상. 출처: 법무부 출입국·외국인정책본부·고용노동부·금융위·사업기획서 v1.0(SSOT).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707683"/>
                </a:solidFill>
                <a:latin typeface="Malgun Gothic"/>
                <a:ea typeface="Malgun Gothic"/>
                <a:cs typeface="Malgun Gothic"/>
              </a:rPr>
              <a:t>1 /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1996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1E2B57"/>
                </a:solidFill>
                <a:latin typeface="Malgun Gothic"/>
                <a:ea typeface="Malgun Gothic"/>
                <a:cs typeface="Malgun Gothic"/>
              </a:rPr>
              <a:t>PLUG</a:t>
            </a:r>
            <a:r>
              <a:rPr sz="1000" b="1">
                <a:solidFill>
                  <a:srgbClr val="1A4FD8"/>
                </a:solidFill>
                <a:latin typeface="Malgun Gothic"/>
                <a:ea typeface="Malgun Gothic"/>
                <a:cs typeface="Malgun Gothic"/>
              </a:rPr>
              <a:t>nx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60">
                <a:solidFill>
                  <a:srgbClr val="1A4FD8"/>
                </a:solidFill>
                <a:latin typeface="Malgun Gothic"/>
                <a:ea typeface="Malgun Gothic"/>
                <a:cs typeface="Malgun Gothic"/>
              </a:rPr>
              <a:t>Appendix: 외국인 재직관리·환급 사업 — ② 시장규모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85855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3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Q1. 시장 규모는 괜찮은가?  (체류외국인 278.3만 · 취업자격 59.4만)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783080"/>
            <a:ext cx="11185855" cy="0"/>
          </a:xfrm>
          <a:prstGeom prst="bentConnector3">
            <a:avLst/>
          </a:prstGeom>
          <a:ln w="12700">
            <a:solidFill>
              <a:srgbClr val="D7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02920" y="1938528"/>
            <a:ext cx="1051560" cy="841248"/>
          </a:xfrm>
          <a:prstGeom prst="roundRect">
            <a:avLst/>
          </a:prstGeom>
          <a:solidFill>
            <a:srgbClr val="1E2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938528"/>
            <a:ext cx="105156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A1.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19072" y="1938528"/>
            <a:ext cx="9969703" cy="841248"/>
          </a:xfrm>
          <a:prstGeom prst="round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8528" y="1984248"/>
            <a:ext cx="9567367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B2B TAM 49만(E계열 취업비자) · B2C TAM 216만(장기체류). 외국인 은행계좌 696만인데 인터넷은행 신용대출 ≈0 — 데이터 공백이 곧 기회.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63240"/>
            <a:ext cx="5410047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1E2B57"/>
                </a:solidFill>
                <a:latin typeface="Malgun Gothic"/>
                <a:ea typeface="Malgun Gothic"/>
                <a:cs typeface="Malgun Gothic"/>
              </a:rPr>
              <a:t>시장 모수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3429000"/>
          <a:ext cx="54100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3014"/>
                <a:gridCol w="2705023"/>
                <a:gridCol w="1082009"/>
              </a:tblGrid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73152" marT="18288" marB="18288" anchor="ctr">
                    <a:solidFill>
                      <a:srgbClr val="1E2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</a:t>
                      </a:r>
                    </a:p>
                  </a:txBody>
                  <a:tcPr marL="73152" marT="18288" marB="18288" anchor="ctr">
                    <a:solidFill>
                      <a:srgbClr val="1E2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라벨</a:t>
                      </a:r>
                    </a:p>
                  </a:txBody>
                  <a:tcPr marL="73152" marT="18288" marB="18288" anchor="ctr">
                    <a:solidFill>
                      <a:srgbClr val="1E2B5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체류외국인 총계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2,783,247명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70768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법무부 '25.12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취업자격</a:t>
                      </a:r>
                    </a:p>
                  </a:txBody>
                  <a:tcPr marL="73152" marT="18288" marB="18288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594,047명</a:t>
                      </a:r>
                    </a:p>
                  </a:txBody>
                  <a:tcPr marL="73152" marT="18288" marB="18288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70768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법무부 '25.12</a:t>
                      </a:r>
                    </a:p>
                  </a:txBody>
                  <a:tcPr marL="73152" marT="18288" marB="18288" anchor="ctr">
                    <a:solidFill>
                      <a:srgbClr val="EEF1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B2B TAM (VisaDesk)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49만 (E계열)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70768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SSOT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B2C TAM (BackWon)</a:t>
                      </a:r>
                    </a:p>
                  </a:txBody>
                  <a:tcPr marL="73152" marT="18288" marB="18288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216만 (장기체류)</a:t>
                      </a:r>
                    </a:p>
                  </a:txBody>
                  <a:tcPr marL="73152" marT="18288" marB="18288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70768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SSOT</a:t>
                      </a:r>
                    </a:p>
                  </a:txBody>
                  <a:tcPr marL="73152" marT="18288" marB="18288" anchor="ctr"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7" y="3063240"/>
            <a:ext cx="5410047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1E2B57"/>
                </a:solidFill>
                <a:latin typeface="Malgun Gothic"/>
                <a:ea typeface="Malgun Gothic"/>
                <a:cs typeface="Malgun Gothic"/>
              </a:rPr>
              <a:t>구성 · 금융 공백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7" y="3429000"/>
          <a:ext cx="54100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3014"/>
                <a:gridCol w="2705023"/>
                <a:gridCol w="1082009"/>
              </a:tblGrid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73152" marT="18288" marB="18288" anchor="ctr">
                    <a:solidFill>
                      <a:srgbClr val="1E2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</a:t>
                      </a:r>
                    </a:p>
                  </a:txBody>
                  <a:tcPr marL="73152" marT="18288" marB="18288" anchor="ctr">
                    <a:solidFill>
                      <a:srgbClr val="1E2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라벨</a:t>
                      </a:r>
                    </a:p>
                  </a:txBody>
                  <a:tcPr marL="73152" marT="18288" marB="18288" anchor="ctr">
                    <a:solidFill>
                      <a:srgbClr val="1E2B5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비자별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E-9 33.7만·H-2 9.3만·E-7 6.4만·F-4 55.6만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70768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'24말 연보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국적</a:t>
                      </a:r>
                    </a:p>
                  </a:txBody>
                  <a:tcPr marL="73152" marT="18288" marB="18288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중국 35.2%·베트남 12.1%</a:t>
                      </a:r>
                    </a:p>
                  </a:txBody>
                  <a:tcPr marL="73152" marT="18288" marB="18288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70768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법무부</a:t>
                      </a:r>
                    </a:p>
                  </a:txBody>
                  <a:tcPr marL="73152" marT="18288" marB="18288" anchor="ctr">
                    <a:solidFill>
                      <a:srgbClr val="EEF1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금융 공백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계좌 696만 vs 인터넷은행 여신 ≈0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70768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'26.4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목표(가정)</a:t>
                      </a:r>
                    </a:p>
                  </a:txBody>
                  <a:tcPr marL="73152" marT="18288" marB="18288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PoC 15사 3,300만→ARR 21억→60억</a:t>
                      </a:r>
                    </a:p>
                  </a:txBody>
                  <a:tcPr marL="73152" marT="18288" marB="18288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70768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SSOT</a:t>
                      </a:r>
                    </a:p>
                  </a:txBody>
                  <a:tcPr marL="73152" marT="18288" marB="18288" anchor="ctr"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cxnSp>
        <p:nvCxnSpPr>
          <p:cNvPr id="13" name="Connector 12"/>
          <p:cNvCxnSpPr/>
          <p:nvPr/>
        </p:nvCxnSpPr>
        <p:spPr>
          <a:xfrm>
            <a:off x="502920" y="5779008"/>
            <a:ext cx="11185855" cy="0"/>
          </a:xfrm>
          <a:prstGeom prst="bentConnector3">
            <a:avLst/>
          </a:prstGeom>
          <a:ln w="12700">
            <a:solidFill>
              <a:srgbClr val="D7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5888736"/>
            <a:ext cx="111858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1">
                <a:solidFill>
                  <a:srgbClr val="1A4FD8"/>
                </a:solidFill>
                <a:latin typeface="Malgun Gothic"/>
                <a:ea typeface="Malgun Gothic"/>
                <a:cs typeface="Malgun Gothic"/>
              </a:rPr>
              <a:t>▶  </a:t>
            </a:r>
            <a:r>
              <a:rPr sz="1300" b="1">
                <a:solidFill>
                  <a:srgbClr val="1A4FD8"/>
                </a:solidFill>
                <a:latin typeface="Malgun Gothic"/>
                <a:ea typeface="Malgun Gothic"/>
                <a:cs typeface="Malgun Gothic"/>
              </a:rPr>
              <a:t>E-9 13만→8만으로 신규유입은 줄지만, 정책 무게가 '존량(재직·전환·정착) 관리'로 이동 → 우리 타깃은 오히려 두터워짐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00885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707683"/>
                </a:solidFill>
                <a:latin typeface="Malgun Gothic"/>
                <a:ea typeface="Malgun Gothic"/>
                <a:cs typeface="Malgun Gothic"/>
              </a:rPr>
              <a:t>참고용·법적효력 없음. 재무수치는 목표·가정이며 PoC·LOI 실측 대상. 출처: 법무부 출입국·외국인정책본부·고용노동부·금융위·사업기획서 v1.0(SSOT).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707683"/>
                </a:solidFill>
                <a:latin typeface="Malgun Gothic"/>
                <a:ea typeface="Malgun Gothic"/>
                <a:cs typeface="Malgun Gothic"/>
              </a:rPr>
              <a:t>2 /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1996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1E2B57"/>
                </a:solidFill>
                <a:latin typeface="Malgun Gothic"/>
                <a:ea typeface="Malgun Gothic"/>
                <a:cs typeface="Malgun Gothic"/>
              </a:rPr>
              <a:t>PLUG</a:t>
            </a:r>
            <a:r>
              <a:rPr sz="1000" b="1">
                <a:solidFill>
                  <a:srgbClr val="1A4FD8"/>
                </a:solidFill>
                <a:latin typeface="Malgun Gothic"/>
                <a:ea typeface="Malgun Gothic"/>
                <a:cs typeface="Malgun Gothic"/>
              </a:rPr>
              <a:t>nx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