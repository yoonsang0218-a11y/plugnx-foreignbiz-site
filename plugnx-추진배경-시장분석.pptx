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PLUGnx 추진배경·시장분석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정부 정책이 '들어온 외국인을 오래·합법으로 붙드는 인프라'로 이동 중 — PlugNX 테제와 정합한 골든윈도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참고용·법적 효력 없음. 재무수치는 목표·가정. 비자·금융·환급 판단은 전문가 검증·최신 법령 확인 필요. 출처: 법무부 출입국·외국인정책본부, 고용노동부, 금융위, PROJECT.md〔SSOT〕.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PLUGnx 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Apple SD Gothic Neo"/>
              </a:rPr>
              <a:t>시사점: 기업의 외국인 관리 부담↑ + 근로자 권익 공백 + 금융 thin-file이 동시에 커진다 → 같은 데이터 하나로 푸는 인프라 기회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1170432"/>
            <a:ext cx="11405311" cy="329184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1480" y="2278380"/>
            <a:ext cx="502920" cy="50292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2783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1874519"/>
            <a:ext cx="1554480" cy="1127759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874519"/>
            <a:ext cx="1554480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Apple SD Gothic Neo"/>
              </a:rPr>
              <a:t>[① 시장 (비가역적 확대)]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59" y="1874519"/>
            <a:ext cx="8899855" cy="1310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체류외국인 278.3만 명〔법무부 '25.12〕·취업자격 59.4만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인구·노동력 구조상 비가역적 확대 — 되돌릴 수 없는 추세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E-9 도입은 13만→8만으로 축소('26)나 흐름은 유지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정책 무게가 '신규 유입' → '존량(재직·전환·정착) 관리'로 이동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3771899"/>
            <a:ext cx="502920" cy="50292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771899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368040"/>
            <a:ext cx="1554480" cy="1127759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368040"/>
            <a:ext cx="1554480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Apple SD Gothic Neo"/>
              </a:rPr>
              <a:t>[② 정책 골든윈도 (기조 전환)]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59" y="3368040"/>
            <a:ext cx="8899855" cy="1310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「양적 확대」 → 「수급 안정 + 관리·신뢰 강화」로 전환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순풍1: E-7-4 숙련전환 점수제 제도화(107개 지역)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순풍2: 외국인 기본인적정보 ICAO 표준 통일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순풍3: 비금융 대안신용·마이데이터 확대 (※「2030 이민정책 미래전략」 5축을 PlugNX 재해석)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" y="5265419"/>
            <a:ext cx="502920" cy="50292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265419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4861559"/>
            <a:ext cx="1554480" cy="1127759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861559"/>
            <a:ext cx="1554480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Apple SD Gothic Neo"/>
              </a:rPr>
              <a:t>[③ 빈 공간 (무주공산)]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59" y="4861559"/>
            <a:ext cx="8899855" cy="1310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외국인 서비스 업체 28곳+ 전수조사 결과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'채용 이후' 통합 관리(재직 준법)+환급+양면 데이터 결합 보유처 없음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경쟁사는 입국 전·유학생·채용입구·생활정보에 분산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→ '채용 이후 전 영역'은 사실상 무주공산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PLUGnx 추진배경·시장분석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B2B 49만·B2C 216만의 이중 시장 + 인터넷은행 외국인 여신 0의 금융 공백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참고용·법적 효력 없음. 재무수치는 목표·가정. 비자·금융·환급 판단은 전문가 검증·최신 법령 확인 필요. 출처: 법무부 출입국·외국인정책본부, 고용노동부, 금융위, PROJECT.md〔SSOT〕.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PLUGnx  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Apple SD Gothic Neo"/>
              </a:rPr>
              <a:t>[Insert subtitle]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" y="1170432"/>
            <a:ext cx="11405311" cy="329184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066543"/>
            <a:ext cx="2759887" cy="41970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066543"/>
            <a:ext cx="2759887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66543"/>
            <a:ext cx="2577007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A. 시장규모 (TAM·목표)</a:t>
            </a:r>
          </a:p>
        </p:txBody>
      </p:sp>
      <p:sp>
        <p:nvSpPr>
          <p:cNvPr id="15" name="Oval 14"/>
          <p:cNvSpPr/>
          <p:nvPr/>
        </p:nvSpPr>
        <p:spPr>
          <a:xfrm>
            <a:off x="1599399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99399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Apple SD Gothic Neo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569463"/>
            <a:ext cx="2577007" cy="3648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TAM B2B 49만 (E계열 취업비자)〔SSOT〕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TAM B2C 216만 (전체 장기체류)〔SSOT〕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목표〔가정〕: PoC 8주 15사·3,300만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ARR 21억(100사·12M) → 60억(300사·24M)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요금제 Starter29 / Growth89 / Compliance169만원·월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81095" y="2066543"/>
            <a:ext cx="2759887" cy="41970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81095" y="2066543"/>
            <a:ext cx="2759887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2535" y="2066543"/>
            <a:ext cx="2577007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B. 시장 구성 (비자별)</a:t>
            </a:r>
          </a:p>
        </p:txBody>
      </p:sp>
      <p:sp>
        <p:nvSpPr>
          <p:cNvPr id="21" name="Oval 20"/>
          <p:cNvSpPr/>
          <p:nvPr/>
        </p:nvSpPr>
        <p:spPr>
          <a:xfrm>
            <a:off x="4469015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9015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Apple SD Gothic Neo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2535" y="2569463"/>
            <a:ext cx="2577007" cy="3648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E-9 33.7만·H-2 9.3만〔'24말 연보〕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E-7 6.4만·F-4 55.6만〔'24말 연보〕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국적: 중국 35.2%·베트남 12.1%〔법무부〕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재직·전환 존량이 두꺼움 → 관리 수요 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0711" y="2066543"/>
            <a:ext cx="2759887" cy="41970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0711" y="2066543"/>
            <a:ext cx="2759887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2151" y="2066543"/>
            <a:ext cx="2577007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C. 금융 공백 (여신 0)</a:t>
            </a:r>
          </a:p>
        </p:txBody>
      </p:sp>
      <p:sp>
        <p:nvSpPr>
          <p:cNvPr id="27" name="Oval 26"/>
          <p:cNvSpPr/>
          <p:nvPr/>
        </p:nvSpPr>
        <p:spPr>
          <a:xfrm>
            <a:off x="7338631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8631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Apple SD Gothic Neo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2151" y="2569463"/>
            <a:ext cx="2577007" cy="3648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외국인 은행계좌 696만〔'26.4〕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인터넷은행 외국인 신용대출 ≈0 (토스 제외)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병목 = 외국인 thin-file (신용정보 부재)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고용데이터가 그 빈칸을 메움 → 결합 우위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20327" y="2066543"/>
            <a:ext cx="2759887" cy="41970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20327" y="2066543"/>
            <a:ext cx="2759887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11767" y="2066543"/>
            <a:ext cx="2577007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D. 경쟁 지형</a:t>
            </a:r>
          </a:p>
        </p:txBody>
      </p:sp>
      <p:sp>
        <p:nvSpPr>
          <p:cNvPr id="33" name="Oval 32"/>
          <p:cNvSpPr/>
          <p:nvPr/>
        </p:nvSpPr>
        <p:spPr>
          <a:xfrm>
            <a:off x="10208247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08247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Apple SD Gothic Neo"/>
              </a:rPr>
              <a:t>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1767" y="2569463"/>
            <a:ext cx="2577007" cy="3648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정면 경쟁자 부재 ('채용 이후' 양면 결합)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최대 위협 = 은행·카드 외국인 신용평가모형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예: 신한 하이크레딧·코스콤 F-Global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차별 = 검증된 고용·임금 데이터의 양면 결합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486399"/>
            <a:ext cx="2194560" cy="64008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486399"/>
            <a:ext cx="2011679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FFFFFF"/>
                </a:solidFill>
                <a:latin typeface="Apple SD Gothic Neo"/>
              </a:rPr>
              <a:t>수요(278만)와 공백(여신0)이 동시에 열려 있고, 양면 데이터 결합은 무주공산 — 진입 매력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