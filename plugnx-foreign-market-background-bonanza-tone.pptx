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b8044f3ddc4132" /><Relationship Type="http://schemas.openxmlformats.org/officeDocument/2006/relationships/extended-properties" Target="/docProps/app.xml" Id="R87373228ff234571" /><Relationship Type="http://schemas.openxmlformats.org/officeDocument/2006/relationships/officeDocument" Target="/ppt/presentation.xml" Id="Rca7c60e35b0144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f55623604b4805"/>
  </p:sldMasterIdLst>
  <p:notesMasterIdLst>
    <p:notesMasterId xmlns:r="http://schemas.openxmlformats.org/officeDocument/2006/relationships" r:id="R0c74458fdcdc4472"/>
  </p:notesMasterIdLst>
  <p:sldIdLst>
    <p:sldId xmlns:r="http://schemas.openxmlformats.org/officeDocument/2006/relationships" id="256" r:id="Rc030be5f07894702"/>
    <p:sldId xmlns:r="http://schemas.openxmlformats.org/officeDocument/2006/relationships" id="257" r:id="Rc2369656366a4ee3"/>
    <p:sldId xmlns:r="http://schemas.openxmlformats.org/officeDocument/2006/relationships" id="258" r:id="R1309cf3cea5e4bbf"/>
    <p:sldId xmlns:r="http://schemas.openxmlformats.org/officeDocument/2006/relationships" id="259" r:id="R5a40ccc98c9b412b"/>
    <p:sldId xmlns:r="http://schemas.openxmlformats.org/officeDocument/2006/relationships" id="260" r:id="Re602b9d87ece4fa3"/>
    <p:sldId xmlns:r="http://schemas.openxmlformats.org/officeDocument/2006/relationships" id="261" r:id="R186608ee9f3a43df"/>
    <p:sldId xmlns:r="http://schemas.openxmlformats.org/officeDocument/2006/relationships" id="262" r:id="R579f645cce6c4ed9"/>
    <p:sldId xmlns:r="http://schemas.openxmlformats.org/officeDocument/2006/relationships" id="263" r:id="Rb2c0aa8df94b409e"/>
    <p:sldId xmlns:r="http://schemas.openxmlformats.org/officeDocument/2006/relationships" id="264" r:id="Re4fed509e2074cc3"/>
    <p:sldId xmlns:r="http://schemas.openxmlformats.org/officeDocument/2006/relationships" id="265" r:id="R7c561970e5a94104"/>
    <p:sldId xmlns:r="http://schemas.openxmlformats.org/officeDocument/2006/relationships" id="266" r:id="Rca4bfdd80d2245d8"/>
    <p:sldId xmlns:r="http://schemas.openxmlformats.org/officeDocument/2006/relationships" id="267" r:id="Rc4c0966fff26437c"/>
    <p:sldId xmlns:r="http://schemas.openxmlformats.org/officeDocument/2006/relationships" id="268" r:id="R64f5a9f91be6451a"/>
    <p:sldId xmlns:r="http://schemas.openxmlformats.org/officeDocument/2006/relationships" id="269" r:id="R76a18449f92b41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1bf7cbe3744655" /><Relationship Type="http://schemas.openxmlformats.org/officeDocument/2006/relationships/slideMaster" Target="/ppt/slideMasters/slideMaster1.xml" Id="Ra0f55623604b4805" /><Relationship Type="http://schemas.openxmlformats.org/officeDocument/2006/relationships/notesMaster" Target="/ppt/notesMasters/notesMaster1.xml" Id="R0c74458fdcdc4472" /><Relationship Type="http://schemas.openxmlformats.org/officeDocument/2006/relationships/presProps" Target="/ppt/presProps.xml" Id="R0b413ea414cc49de" /><Relationship Type="http://schemas.openxmlformats.org/officeDocument/2006/relationships/tableStyles" Target="/ppt/tableStyles.xml" Id="R9786b4d0a7f14a52" /><Relationship Type="http://schemas.openxmlformats.org/officeDocument/2006/relationships/slide" Target="/ppt/slides/slide1.xml" Id="Rc030be5f07894702" /><Relationship Type="http://schemas.openxmlformats.org/officeDocument/2006/relationships/slide" Target="/ppt/slides/slide2.xml" Id="Rc2369656366a4ee3" /><Relationship Type="http://schemas.openxmlformats.org/officeDocument/2006/relationships/slide" Target="/ppt/slides/slide3.xml" Id="R1309cf3cea5e4bbf" /><Relationship Type="http://schemas.openxmlformats.org/officeDocument/2006/relationships/slide" Target="/ppt/slides/slide4.xml" Id="R5a40ccc98c9b412b" /><Relationship Type="http://schemas.openxmlformats.org/officeDocument/2006/relationships/slide" Target="/ppt/slides/slide5.xml" Id="Re602b9d87ece4fa3" /><Relationship Type="http://schemas.openxmlformats.org/officeDocument/2006/relationships/slide" Target="/ppt/slides/slide6.xml" Id="R186608ee9f3a43df" /><Relationship Type="http://schemas.openxmlformats.org/officeDocument/2006/relationships/slide" Target="/ppt/slides/slide7.xml" Id="R579f645cce6c4ed9" /><Relationship Type="http://schemas.openxmlformats.org/officeDocument/2006/relationships/slide" Target="/ppt/slides/slide8.xml" Id="Rb2c0aa8df94b409e" /><Relationship Type="http://schemas.openxmlformats.org/officeDocument/2006/relationships/slide" Target="/ppt/slides/slide9.xml" Id="Re4fed509e2074cc3" /><Relationship Type="http://schemas.openxmlformats.org/officeDocument/2006/relationships/slide" Target="/ppt/slides/slide10.xml" Id="R7c561970e5a94104" /><Relationship Type="http://schemas.openxmlformats.org/officeDocument/2006/relationships/slide" Target="/ppt/slides/slide11.xml" Id="Rca4bfdd80d2245d8" /><Relationship Type="http://schemas.openxmlformats.org/officeDocument/2006/relationships/slide" Target="/ppt/slides/slide12.xml" Id="Rc4c0966fff26437c" /><Relationship Type="http://schemas.openxmlformats.org/officeDocument/2006/relationships/slide" Target="/ppt/slides/slide13.xml" Id="R64f5a9f91be6451a" /><Relationship Type="http://schemas.openxmlformats.org/officeDocument/2006/relationships/slide" Target="/ppt/slides/slide14.xml" Id="R76a18449f92b41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f3462ee82f44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8ce2d81cb04e01" /><Relationship Type="http://schemas.openxmlformats.org/officeDocument/2006/relationships/notesMaster" Target="/ppt/notesMasters/notesMaster1.xml" Id="R09446a73d3c14c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e09567a9234fb5" /><Relationship Type="http://schemas.openxmlformats.org/officeDocument/2006/relationships/notesMaster" Target="/ppt/notesMasters/notesMaster1.xml" Id="R068ed4e4b2574b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3a21a9e2124b98" /><Relationship Type="http://schemas.openxmlformats.org/officeDocument/2006/relationships/notesMaster" Target="/ppt/notesMasters/notesMaster1.xml" Id="R782aad4c5a6b41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d0e609aa8d4101" /><Relationship Type="http://schemas.openxmlformats.org/officeDocument/2006/relationships/notesMaster" Target="/ppt/notesMasters/notesMaster1.xml" Id="Rb36b0275012046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9a8e121f6e4b4d" /><Relationship Type="http://schemas.openxmlformats.org/officeDocument/2006/relationships/notesMaster" Target="/ppt/notesMasters/notesMaster1.xml" Id="Reff764c14b5a4b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d48bc5b7b64a73" /><Relationship Type="http://schemas.openxmlformats.org/officeDocument/2006/relationships/notesMaster" Target="/ppt/notesMasters/notesMaster1.xml" Id="Rd64642ad702743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388bcffce04045" /><Relationship Type="http://schemas.openxmlformats.org/officeDocument/2006/relationships/notesMaster" Target="/ppt/notesMasters/notesMaster1.xml" Id="Rb641d59edb9341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659164f5eb44e0" /><Relationship Type="http://schemas.openxmlformats.org/officeDocument/2006/relationships/notesMaster" Target="/ppt/notesMasters/notesMaster1.xml" Id="R42b15a1e34f04c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aaa442ffa7484f" /><Relationship Type="http://schemas.openxmlformats.org/officeDocument/2006/relationships/notesMaster" Target="/ppt/notesMasters/notesMaster1.xml" Id="Rb44f54cbf02e4b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854fab05334791" /><Relationship Type="http://schemas.openxmlformats.org/officeDocument/2006/relationships/notesMaster" Target="/ppt/notesMasters/notesMaster1.xml" Id="Rae8e55ac886a4d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2b94e5037045e2" /><Relationship Type="http://schemas.openxmlformats.org/officeDocument/2006/relationships/notesMaster" Target="/ppt/notesMasters/notesMaster1.xml" Id="Rf069b4b97a9241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740e0c0b6c443c" /><Relationship Type="http://schemas.openxmlformats.org/officeDocument/2006/relationships/notesMaster" Target="/ppt/notesMasters/notesMaster1.xml" Id="Ra3f564234d4f4c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3c3175c1454b78" /><Relationship Type="http://schemas.openxmlformats.org/officeDocument/2006/relationships/notesMaster" Target="/ppt/notesMasters/notesMaster1.xml" Id="Rd5ad43adb1fc4e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c8fb30d83f41ee" /><Relationship Type="http://schemas.openxmlformats.org/officeDocument/2006/relationships/notesMaster" Target="/ppt/notesMasters/notesMaster1.xml" Id="R64c4c4b3bf9548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220c141a245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7db3ace7ec483e" /><Relationship Type="http://schemas.openxmlformats.org/officeDocument/2006/relationships/slideLayout" Target="/ppt/slideLayouts/slideLayout1.xml" Id="R0f45549ea8dc42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45549ea8dc42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bdf21cb1b40f3" /><Relationship Type="http://schemas.openxmlformats.org/officeDocument/2006/relationships/notesSlide" Target="/ppt/notesSlides/notesSlide1.xml" Id="R35f2b5e9ad2b44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e17e0adc34b62" /><Relationship Type="http://schemas.openxmlformats.org/officeDocument/2006/relationships/notesSlide" Target="/ppt/notesSlides/notesSlide2.xml" Id="R2706cd1f381344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6cdb09ebc44d9" /><Relationship Type="http://schemas.openxmlformats.org/officeDocument/2006/relationships/notesSlide" Target="/ppt/notesSlides/notesSlide3.xml" Id="R04aebf328fb846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b5b41a9224844" /><Relationship Type="http://schemas.openxmlformats.org/officeDocument/2006/relationships/notesSlide" Target="/ppt/notesSlides/notesSlide4.xml" Id="R19f3fb281cb64b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debc2014145d6" /><Relationship Type="http://schemas.openxmlformats.org/officeDocument/2006/relationships/notesSlide" Target="/ppt/notesSlides/notesSlide5.xml" Id="R8f8646299c134f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a2ede3ee0423f" /><Relationship Type="http://schemas.openxmlformats.org/officeDocument/2006/relationships/notesSlide" Target="/ppt/notesSlides/notesSlide6.xml" Id="Rfafe965f81a14f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69ed7621f49b1" /><Relationship Type="http://schemas.openxmlformats.org/officeDocument/2006/relationships/notesSlide" Target="/ppt/notesSlides/notesSlide7.xml" Id="Ra6710d6fd4ae41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051c98f0848ff" /><Relationship Type="http://schemas.openxmlformats.org/officeDocument/2006/relationships/notesSlide" Target="/ppt/notesSlides/notesSlide8.xml" Id="Rdba81878967449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2190d0cc64d6f" /><Relationship Type="http://schemas.openxmlformats.org/officeDocument/2006/relationships/notesSlide" Target="/ppt/notesSlides/notesSlide9.xml" Id="R8410c762b51a4f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a45cfdee445ff" /><Relationship Type="http://schemas.openxmlformats.org/officeDocument/2006/relationships/notesSlide" Target="/ppt/notesSlides/notesSlide10.xml" Id="R6cc48689793948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6b91a35cf49b1" /><Relationship Type="http://schemas.openxmlformats.org/officeDocument/2006/relationships/image" Target="/ppt/media/image.png" Id="R298e115379364d02" /><Relationship Type="http://schemas.openxmlformats.org/officeDocument/2006/relationships/notesSlide" Target="/ppt/notesSlides/notesSlide11.xml" Id="Re516afaecbd441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8c2937e474bac" /><Relationship Type="http://schemas.openxmlformats.org/officeDocument/2006/relationships/image" Target="/ppt/media/image2.png" Id="Rd7a9181b09d34276" /><Relationship Type="http://schemas.openxmlformats.org/officeDocument/2006/relationships/notesSlide" Target="/ppt/notesSlides/notesSlide12.xml" Id="R95b83eef7f4940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9be9b5ee44257" /><Relationship Type="http://schemas.openxmlformats.org/officeDocument/2006/relationships/image" Target="/ppt/media/image3.png" Id="Ra903dad49ff7449c" /><Relationship Type="http://schemas.openxmlformats.org/officeDocument/2006/relationships/notesSlide" Target="/ppt/notesSlides/notesSlide13.xml" Id="R7df0d0066daa4b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165b76b1f4b62" /><Relationship Type="http://schemas.openxmlformats.org/officeDocument/2006/relationships/notesSlide" Target="/ppt/notesSlides/notesSlide14.xml" Id="Rf047ab39039c4f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52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B71A9-FD26-404A-AD59-DE988B11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38125"/>
            <a:ext cx="3286125" cy="7667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3F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0BAA4-C05B-4EDA-92FF-75307228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571500"/>
            <a:ext cx="3000375" cy="8286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5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8BC47-53E0-44EF-A255-C040578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381000"/>
            <a:ext cx="1714500" cy="77628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F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FB358-B66E-48D5-ABD3-7B6D3B14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PLUGnx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CD1DF-A154-43A4-BF9F-7E7C0BE0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외국인 신사업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추진배경 및 시장규모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9E5F0-8E20-4D2D-A537-6306E095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DF5FF"/>
                </a:solidFill>
              </a:defRPr>
            </a:pPr>
            <a:r>
              <a:rPr sz="1650">
                <a:solidFill>
                  <a:srgbClr val="EDF5FF"/>
                </a:solidFill>
              </a:rPr>
              <a:t>VisaDesk · Moneeback · ForeignID</a:t>
            </a:r>
          </a:p>
          <a:p xmlns:a="http://schemas.openxmlformats.org/drawingml/2006/main">
            <a:pPr>
              <a:defRPr sz="1650">
                <a:solidFill>
                  <a:srgbClr val="EDF5FF"/>
                </a:solidFill>
              </a:defRPr>
            </a:pPr>
            <a:r>
              <a:rPr sz="1650">
                <a:solidFill>
                  <a:srgbClr val="EDF5FF"/>
                </a:solidFill>
              </a:rPr>
              <a:t>B2B+B2C 양면 플랫폼 리서치 요약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0814D-7D6F-4431-9629-4BE40B73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DEAFF"/>
                </a:solidFill>
              </a:defRPr>
            </a:pPr>
            <a:r>
              <a:rPr sz="1350">
                <a:solidFill>
                  <a:srgbClr val="DDEAFF"/>
                </a:solidFill>
              </a:rPr>
              <a:t>2026.06.25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9D004-9BFF-47D1-88BB-97AC0687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9817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DDEAFF"/>
                </a:solidFill>
              </a:defRPr>
            </a:pPr>
            <a:r>
              <a:rPr sz="1350">
                <a:solidFill>
                  <a:srgbClr val="DDEAFF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8195448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3439D3-9468-44C2-9581-B3690F3E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PlugNX 외국인 신사업 제안서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E5061-60BE-418D-A6A4-CAD9E416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05241-6F4B-4298-BE46-4C7804A1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717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6211E-A268-46DE-A0CA-ABEC43CC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28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05A76-31F2-4B7F-9709-2C202C0C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859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2E683-1A8E-4612-B120-DE1A5DF0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428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8F730-01F6-488E-921A-C5A31350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추진배경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AAA32-44AC-442C-8A28-527F90F9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181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343434"/>
                </a:solidFill>
              </a:defRPr>
            </a:pPr>
            <a:r>
              <a:rPr sz="1013">
                <a:solidFill>
                  <a:srgbClr val="343434"/>
                </a:solidFill>
              </a:rPr>
              <a:t>인구구조·정책 변화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61067-358A-402F-BFFA-10575FB3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28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418AC-4877-46AD-91AF-EC7E2A92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859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C9724-31D1-4357-BA57-BA1C1D44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28900"/>
            <a:ext cx="1428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76A33-54F4-4644-A56D-E90488EB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14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시장규모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AA449-591A-40C5-B3C4-E41A9A2D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81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343434"/>
                </a:solidFill>
              </a:defRPr>
            </a:pPr>
            <a:r>
              <a:rPr sz="1013">
                <a:solidFill>
                  <a:srgbClr val="343434"/>
                </a:solidFill>
              </a:rPr>
              <a:t>B2C 216만 / B2B 49만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67BCB-F70E-46A6-867A-354D4665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28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54F90-2E86-4DBE-B0DD-4DF915E1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859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61987-2AE0-4039-8664-62B02706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1428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79D24-A879-42E9-AE13-E03BC8BF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14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고객·경쟁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7C60F-0CB3-467C-8D60-41C2B14B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81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343434"/>
                </a:solidFill>
              </a:defRPr>
            </a:pPr>
            <a:r>
              <a:rPr sz="1013">
                <a:solidFill>
                  <a:srgbClr val="343434"/>
                </a:solidFill>
              </a:rPr>
              <a:t>채용 이후 공백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F6476-B804-48FD-8A5B-0B2C4D8E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28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388D9-AC19-41E2-BFA1-D67627E5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859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AF5B8-1814-4AF7-A263-4D209C74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28900"/>
            <a:ext cx="1428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8BE95-2D30-4606-9B28-068A02E2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714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활용 화면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65E661-5735-4D97-B1CF-0716F54E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81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343434"/>
                </a:solidFill>
              </a:defRPr>
            </a:pPr>
            <a:r>
              <a:rPr sz="1013">
                <a:solidFill>
                  <a:srgbClr val="343434"/>
                </a:solidFill>
              </a:rPr>
              <a:t>앱·웹 분리 시연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3E98F-02E4-4797-BE69-B80727A7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028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22C1B-206E-482C-B4BF-3BF970FB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0859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D30E8-3F5C-497C-8E02-10F91DE5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28900"/>
            <a:ext cx="1428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A69BD1-260D-40E3-91A4-ABD6AE71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14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추진계획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685249-6C39-4E67-8743-EE856E28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81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343434"/>
                </a:solidFill>
              </a:defRPr>
            </a:pPr>
            <a:r>
              <a:rPr sz="1013">
                <a:solidFill>
                  <a:srgbClr val="343434"/>
                </a:solidFill>
              </a:rPr>
              <a:t>90일 검증 로드맵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E381A2-1636-4B8E-B938-2A7F6D6A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29150"/>
            <a:ext cx="9105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103882-A6E6-449C-B6D6-D3B2EE66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38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핵심 메시지: 외국인 시장은 규모보다도 '채용 이후 데이터'가 비어 있고, PlugNX는 기업 관리 데이터와 근로자 금융·환급 수요를 한 번에 묶을 수 있습니다.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5006C8-2CE0-4315-B501-78735A31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2E6"/>
                </a:solidFill>
              </a:defRPr>
            </a:pPr>
            <a:r>
              <a:rPr sz="1350" b="1">
                <a:solidFill>
                  <a:srgbClr val="2452E6"/>
                </a:solidFill>
              </a:rPr>
              <a:t>PLUGnx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521C1F-74CF-4DF0-8848-61A74913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34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7D92B4"/>
                </a:solidFill>
              </a:defRPr>
            </a:pPr>
            <a:r>
              <a:rPr sz="660">
                <a:solidFill>
                  <a:srgbClr val="7D92B4"/>
                </a:solidFill>
              </a:rPr>
              <a:t>Copyright (C) 2026 PlugNX. All rights reserved | Confidential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30F711-B8F4-46C6-AF95-8B7E1437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8A8A8A"/>
                </a:solidFill>
              </a:defRPr>
            </a:pPr>
            <a:r>
              <a:rPr sz="1125">
                <a:solidFill>
                  <a:srgbClr val="8A8A8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3909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452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86DE55-74F4-4B07-9B6B-B49AF869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38125"/>
            <a:ext cx="3286125" cy="7667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3F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B8453-2E3A-4F00-8E8C-EDDFAD9E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571500"/>
            <a:ext cx="3000375" cy="8286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5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C7E63-3750-4208-A70B-61370D6B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381000"/>
            <a:ext cx="1714500" cy="77628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F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12C65-D727-42CD-B52A-3446FF1A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PLUGnx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3E030-88FF-4470-A5FF-8ADC5804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9D8F7"/>
                </a:solidFill>
              </a:defRPr>
            </a:pPr>
            <a:r>
              <a:rPr sz="2100" b="1">
                <a:solidFill>
                  <a:srgbClr val="A9D8F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5A38F-54C4-499E-9FB9-DBFA2D0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추진배경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4D09C-48E5-420F-9A9F-B1EDBD63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AF3FF"/>
                </a:solidFill>
              </a:defRPr>
            </a:pPr>
            <a:r>
              <a:rPr sz="1575">
                <a:solidFill>
                  <a:srgbClr val="EAF3FF"/>
                </a:solidFill>
              </a:rPr>
              <a:t>왜 외국인 시장이고, 왜 지금 PlugNX가 들어가야 하는가</a:t>
            </a:r>
          </a:p>
        </p:txBody>
      </p:sp>
    </p:spTree>
    <p:extLst>
      <p:ext uri="{BB962C8B-B14F-4D97-AF65-F5344CB8AC3E}">
        <p14:creationId xmlns:p14="http://schemas.microsoft.com/office/powerpoint/2010/main" val="538032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536786-F763-4A29-A607-EB75EF93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외국인 시장 진입 논리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66735-D88C-4CC5-9420-D3B976AC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EB2E6-7D20-4EAD-8507-414424DF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00150"/>
            <a:ext cx="13906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ABA67-EF4E-4805-A9EF-840994BA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0188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전략 목표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D343A-199D-46D0-B9EA-C89B123E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62200"/>
            <a:ext cx="13906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8784F-9A1E-4092-B04B-AFD3270E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전략 방향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AD448-EB14-48EB-BABE-804223E2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86200"/>
            <a:ext cx="13906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812D8-97E3-4741-8440-2FC23BBF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577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실행 과제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0ED34-AFDF-425E-B1E1-54419C01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200150"/>
            <a:ext cx="99250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72648-A5C4-4A17-99C6-637A843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481138"/>
            <a:ext cx="965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채용 이후 데이터 입구 확보와 근로자 B2C 전환으로 양면 플랫폼 구축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610AC-DB3B-4634-B98A-7AD23ECC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622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7B145-88B3-4969-813E-3C237F2E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19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시장 구조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B37E5-1A49-4392-851E-93654DD4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62400"/>
            <a:ext cx="2057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343434"/>
                </a:solidFill>
              </a:defRPr>
            </a:pPr>
            <a:r>
              <a:rPr sz="1088">
                <a:solidFill>
                  <a:srgbClr val="343434"/>
                </a:solidFill>
              </a:rPr>
              <a:t>• 체류외국인 278.3만</a:t>
            </a:r>
          </a:p>
          <a:p xmlns:a="http://schemas.openxmlformats.org/drawingml/2006/main">
            <a:pPr>
              <a:defRPr sz="1088">
                <a:solidFill>
                  <a:srgbClr val="343434"/>
                </a:solidFill>
              </a:defRPr>
            </a:pPr>
            <a:r>
              <a:rPr sz="1088">
                <a:solidFill>
                  <a:srgbClr val="343434"/>
                </a:solidFill>
              </a:rPr>
              <a:t>• 장기체류 216만</a:t>
            </a:r>
          </a:p>
          <a:p xmlns:a="http://schemas.openxmlformats.org/drawingml/2006/main">
            <a:pPr>
              <a:defRPr sz="1088">
                <a:solidFill>
                  <a:srgbClr val="343434"/>
                </a:solidFill>
              </a:defRPr>
            </a:pPr>
            <a:r>
              <a:rPr sz="1088">
                <a:solidFill>
                  <a:srgbClr val="343434"/>
                </a:solidFill>
              </a:rPr>
              <a:t>• 취업비자 49만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E35A8-596E-470B-9C03-4BA9942C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622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3DE31-BB50-469B-9F4B-5CCCAF39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9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정책 신호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49128-A214-4406-BF4B-B69D7BB5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62400"/>
            <a:ext cx="2057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343434"/>
                </a:solidFill>
              </a:defRPr>
            </a:pPr>
            <a:r>
              <a:rPr sz="1088">
                <a:solidFill>
                  <a:srgbClr val="343434"/>
                </a:solidFill>
              </a:rPr>
              <a:t>• 양적 확대 이후</a:t>
            </a:r>
          </a:p>
          <a:p xmlns:a="http://schemas.openxmlformats.org/drawingml/2006/main">
            <a:pPr>
              <a:defRPr sz="1088">
                <a:solidFill>
                  <a:srgbClr val="343434"/>
                </a:solidFill>
              </a:defRPr>
            </a:pPr>
            <a:r>
              <a:rPr sz="1088">
                <a:solidFill>
                  <a:srgbClr val="343434"/>
                </a:solidFill>
              </a:rPr>
              <a:t>• 숙련전환·정주·신원</a:t>
            </a:r>
          </a:p>
          <a:p xmlns:a="http://schemas.openxmlformats.org/drawingml/2006/main">
            <a:pPr>
              <a:defRPr sz="1088">
                <a:solidFill>
                  <a:srgbClr val="343434"/>
                </a:solidFill>
              </a:defRPr>
            </a:pPr>
            <a:r>
              <a:rPr sz="1088">
                <a:solidFill>
                  <a:srgbClr val="343434"/>
                </a:solidFill>
              </a:rPr>
              <a:t>• 관리 중심으로 이동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47E0D-3D5A-4269-8974-6AEAB57F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622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CF773-A314-4171-88CC-89F731A8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고객 Pain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4CAF0-A257-4B2D-8436-1602DB65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62400"/>
            <a:ext cx="2057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343434"/>
                </a:solidFill>
              </a:defRPr>
            </a:pPr>
            <a:r>
              <a:rPr sz="1088">
                <a:solidFill>
                  <a:srgbClr val="343434"/>
                </a:solidFill>
              </a:rPr>
              <a:t>• 기업은 준법 리스크</a:t>
            </a:r>
          </a:p>
          <a:p xmlns:a="http://schemas.openxmlformats.org/drawingml/2006/main">
            <a:pPr>
              <a:defRPr sz="1088">
                <a:solidFill>
                  <a:srgbClr val="343434"/>
                </a:solidFill>
              </a:defRPr>
            </a:pPr>
            <a:r>
              <a:rPr sz="1088">
                <a:solidFill>
                  <a:srgbClr val="343434"/>
                </a:solidFill>
              </a:rPr>
              <a:t>• 근로자는 미수령 권리</a:t>
            </a:r>
          </a:p>
          <a:p xmlns:a="http://schemas.openxmlformats.org/drawingml/2006/main">
            <a:pPr>
              <a:defRPr sz="1088">
                <a:solidFill>
                  <a:srgbClr val="343434"/>
                </a:solidFill>
              </a:defRPr>
            </a:pPr>
            <a:r>
              <a:rPr sz="1088">
                <a:solidFill>
                  <a:srgbClr val="343434"/>
                </a:solidFill>
              </a:rPr>
              <a:t>• 금융은 thin-file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EED528-BF3C-4118-9168-6CD9B3E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62200"/>
            <a:ext cx="2362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105B1C-22CE-4821-B9F3-4C219082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19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PlugNX 해법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41B18-2AD0-47E7-8D3F-E90EDB60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62400"/>
            <a:ext cx="2057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343434"/>
                </a:solidFill>
              </a:defRPr>
            </a:pPr>
            <a:r>
              <a:rPr sz="1088">
                <a:solidFill>
                  <a:srgbClr val="343434"/>
                </a:solidFill>
              </a:rPr>
              <a:t>• VisaDesk로 등록</a:t>
            </a:r>
          </a:p>
          <a:p xmlns:a="http://schemas.openxmlformats.org/drawingml/2006/main">
            <a:pPr>
              <a:defRPr sz="1088">
                <a:solidFill>
                  <a:srgbClr val="343434"/>
                </a:solidFill>
              </a:defRPr>
            </a:pPr>
            <a:r>
              <a:rPr sz="1088">
                <a:solidFill>
                  <a:srgbClr val="343434"/>
                </a:solidFill>
              </a:rPr>
              <a:t>• ForeignID로 인증</a:t>
            </a:r>
          </a:p>
          <a:p xmlns:a="http://schemas.openxmlformats.org/drawingml/2006/main">
            <a:pPr>
              <a:defRPr sz="1088">
                <a:solidFill>
                  <a:srgbClr val="343434"/>
                </a:solidFill>
              </a:defRPr>
            </a:pPr>
            <a:r>
              <a:rPr sz="1088">
                <a:solidFill>
                  <a:srgbClr val="343434"/>
                </a:solidFill>
              </a:rPr>
              <a:t>• Moneeback으로 전환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713A2-322B-4119-BC1A-216EB32A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2E6"/>
                </a:solidFill>
              </a:defRPr>
            </a:pPr>
            <a:r>
              <a:rPr sz="1350" b="1">
                <a:solidFill>
                  <a:srgbClr val="2452E6"/>
                </a:solidFill>
              </a:rPr>
              <a:t>PLUGnx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BEACD-5689-4A73-AA5F-EE6B92ED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34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7D92B4"/>
                </a:solidFill>
              </a:defRPr>
            </a:pPr>
            <a:r>
              <a:rPr sz="660">
                <a:solidFill>
                  <a:srgbClr val="7D92B4"/>
                </a:solidFill>
              </a:rPr>
              <a:t>Copyright (C) 2026 PlugNX. All rights reserved | Confidential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21622-4F3C-4134-9C04-53FA0C2C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8A8A8A"/>
                </a:solidFill>
              </a:defRPr>
            </a:pPr>
            <a:r>
              <a:rPr sz="1125">
                <a:solidFill>
                  <a:srgbClr val="8A8A8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589550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E15A7F-8354-4C3E-9628-2CD51C20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정책 변화가 제품 기회를 만든다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AA006-0816-485E-8A21-EE2DA73B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81142-E6D9-4821-9FE1-576ED698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FD3DB-9D49-4637-A4EF-00AB9473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정부 기조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F316A-4433-4B2C-9AA1-E52821CC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양적 확대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4E57C-76FB-4FE7-B3DF-924FC1B2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954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A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211F0-88D5-4252-890F-E9C743A2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95400"/>
            <a:ext cx="23812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315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0140E-0BD9-4567-8E01-1C62BFEE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수급 안정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+ 관리·신뢰 강화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C86CE-0DA7-4C42-88C2-31B977D5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954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A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E89A9-8FA3-48CA-AD03-374DC02C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E9BA8-598B-4C20-8216-6B636A99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2001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제품 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C881C-03FE-4F5E-8D2D-9B2093ED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95400"/>
            <a:ext cx="41719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D0C42-0044-44FB-A8BD-D01B2D91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360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정책 변동이 커질수록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기업 관리·인증·금융 연결의 가치가 상승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A6E08-8BE7-43C3-AB07-D63FBF5B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5FF78-7354-4DE1-B2A0-65F8B881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2001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제품 기회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63DB2-E99D-4DBD-A1D2-B597ED38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86E5D-4A86-4DDE-A9F8-C1463EAE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C23B4-B346-4F6A-8F07-0FCDC876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E3C35-37D0-4CB3-95BC-2288C596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315A9E"/>
                </a:solidFill>
              </a:defRPr>
            </a:pPr>
            <a:r>
              <a:rPr sz="863" b="1">
                <a:solidFill>
                  <a:srgbClr val="315A9E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9C067-5C03-44DE-9C18-21BAF11F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4332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신규유입 조정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F648A-AB85-4343-BDF4-206F6981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2425"/>
            <a:ext cx="1924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신규보다 재직·전환·정착 관리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A5B78-7898-4F14-BE9D-F84C0475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A17C0-0AB1-4B47-B459-99523ACD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315A9E"/>
                </a:solidFill>
              </a:defRPr>
            </a:pPr>
            <a:r>
              <a:rPr sz="990" b="1">
                <a:solidFill>
                  <a:srgbClr val="315A9E"/>
                </a:solidFill>
              </a:rPr>
              <a:t>VisaDesk</a:t>
            </a:r>
          </a:p>
          <a:p xmlns:a="http://schemas.openxmlformats.org/drawingml/2006/main">
            <a:pPr algn="ctr">
              <a:defRPr sz="990" b="1">
                <a:solidFill>
                  <a:srgbClr val="315A9E"/>
                </a:solidFill>
              </a:defRPr>
            </a:pPr>
            <a:r>
              <a:rPr sz="990" b="1">
                <a:solidFill>
                  <a:srgbClr val="315A9E"/>
                </a:solidFill>
              </a:rPr>
              <a:t>만료·갱신·전환 리스크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1B6F7-9294-45BC-B795-191B97D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F84232-5DCA-4D0B-9A5A-E13082DA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1F95D-E0E9-4C9A-BF1B-558558B2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79F1A0-43EA-4360-9083-B8987A01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623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315A9E"/>
                </a:solidFill>
              </a:defRPr>
            </a:pPr>
            <a:r>
              <a:rPr sz="863" b="1">
                <a:solidFill>
                  <a:srgbClr val="315A9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A6E7DD-DC68-4F43-A111-8136DD76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4332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숙련전환 확대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5FD4F0-C5BA-4959-8D17-9E605515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62425"/>
            <a:ext cx="1924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E-9 → E-7-4/지역정주 흐름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B9BF59-390A-4970-A1DE-8831E4FC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31495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1C5714-27A7-4AE0-821C-7DA37377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292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315A9E"/>
                </a:solidFill>
              </a:defRPr>
            </a:pPr>
            <a:r>
              <a:rPr sz="990" b="1">
                <a:solidFill>
                  <a:srgbClr val="315A9E"/>
                </a:solidFill>
              </a:rPr>
              <a:t>VisaDesk</a:t>
            </a:r>
          </a:p>
          <a:p xmlns:a="http://schemas.openxmlformats.org/drawingml/2006/main">
            <a:pPr algn="ctr">
              <a:defRPr sz="990" b="1">
                <a:solidFill>
                  <a:srgbClr val="315A9E"/>
                </a:solidFill>
              </a:defRPr>
            </a:pPr>
            <a:r>
              <a:rPr sz="990" b="1">
                <a:solidFill>
                  <a:srgbClr val="315A9E"/>
                </a:solidFill>
              </a:rPr>
              <a:t>임금·근속·교육 이력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E53372-CA29-465A-A513-491C03CE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CE4D37-F65D-4D31-ACAC-11C7F09D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D9569F-BCD0-4934-AC37-61A5CF7D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539500-72F3-4C2B-8CDD-93942893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623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315A9E"/>
                </a:solidFill>
              </a:defRPr>
            </a:pPr>
            <a:r>
              <a:rPr sz="863" b="1">
                <a:solidFill>
                  <a:srgbClr val="315A9E"/>
                </a:solidFill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312DA8-B92D-4AF1-BBBB-9B87DCD2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4332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디지털 신원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9D35F2-F0F5-4F08-A07D-03FA343E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62425"/>
            <a:ext cx="1924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기본인적정보·모바일 등록증 표준화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160740-4A6D-463F-939B-74C9431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1495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F06F6F-50BE-4CA7-985B-D298EB96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292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315A9E"/>
                </a:solidFill>
              </a:defRPr>
            </a:pPr>
            <a:r>
              <a:rPr sz="990" b="1">
                <a:solidFill>
                  <a:srgbClr val="315A9E"/>
                </a:solidFill>
              </a:rPr>
              <a:t>ForeignID</a:t>
            </a:r>
          </a:p>
          <a:p xmlns:a="http://schemas.openxmlformats.org/drawingml/2006/main">
            <a:pPr algn="ctr">
              <a:defRPr sz="990" b="1">
                <a:solidFill>
                  <a:srgbClr val="315A9E"/>
                </a:solidFill>
              </a:defRPr>
            </a:pPr>
            <a:r>
              <a:rPr sz="990" b="1">
                <a:solidFill>
                  <a:srgbClr val="315A9E"/>
                </a:solidFill>
              </a:rPr>
              <a:t>여권·ARC·계좌 인증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FF4048-9589-4B1B-B391-4B7AF656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FE6858-D8F4-4392-8B42-9577B56E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AE1188-CBE5-4B14-890D-DD21C456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33750"/>
            <a:ext cx="876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4BFD42-DF76-4277-BBD4-39C34C16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623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315A9E"/>
                </a:solidFill>
              </a:defRPr>
            </a:pPr>
            <a:r>
              <a:rPr sz="863" b="1">
                <a:solidFill>
                  <a:srgbClr val="315A9E"/>
                </a:solidFill>
              </a:rPr>
              <a:t>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E30A97-D86A-4297-B7B7-2C44AD00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4332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금융 접근 확대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58C76F-3D2A-4D53-B4AD-D5BBE906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62425"/>
            <a:ext cx="1924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대안신용·마이데이터 논의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772F6E-1E6E-4238-B9AA-7A819E84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1495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C903B9-40F9-4D3E-8569-7182172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292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315A9E"/>
                </a:solidFill>
              </a:defRPr>
            </a:pPr>
            <a:r>
              <a:rPr sz="990" b="1">
                <a:solidFill>
                  <a:srgbClr val="315A9E"/>
                </a:solidFill>
              </a:rPr>
              <a:t>Moneeback</a:t>
            </a:r>
          </a:p>
          <a:p xmlns:a="http://schemas.openxmlformats.org/drawingml/2006/main">
            <a:pPr algn="ctr">
              <a:defRPr sz="990" b="1">
                <a:solidFill>
                  <a:srgbClr val="315A9E"/>
                </a:solidFill>
              </a:defRPr>
            </a:pPr>
            <a:r>
              <a:rPr sz="990" b="1">
                <a:solidFill>
                  <a:srgbClr val="315A9E"/>
                </a:solidFill>
              </a:rPr>
              <a:t>환급·급여·신용 데이터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BEB9DF-0FD3-41FC-B8A6-87B56425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E7781"/>
                </a:solidFill>
              </a:defRPr>
            </a:pPr>
            <a:r>
              <a:rPr sz="975">
                <a:solidFill>
                  <a:srgbClr val="6E7781"/>
                </a:solidFill>
              </a:rPr>
              <a:t>주의: 정책·요율·비자요건은 수시로 바뀌므로 제품 문구는 참고용 안내와 전문가 검증 전제로 설계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193280-7592-42B4-8BF7-DCFF287A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2E6"/>
                </a:solidFill>
              </a:defRPr>
            </a:pPr>
            <a:r>
              <a:rPr sz="1350" b="1">
                <a:solidFill>
                  <a:srgbClr val="2452E6"/>
                </a:solidFill>
              </a:rPr>
              <a:t>PLUGnx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512B09-4022-4D0A-A110-2324B8BA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34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7D92B4"/>
                </a:solidFill>
              </a:defRPr>
            </a:pPr>
            <a:r>
              <a:rPr sz="660">
                <a:solidFill>
                  <a:srgbClr val="7D92B4"/>
                </a:solidFill>
              </a:rPr>
              <a:t>Copyright (C) 2026 PlugNX. All rights reserved | Confidential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0558A2-1ADE-454F-95A4-B7C5C8F5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8A8A8A"/>
                </a:solidFill>
              </a:defRPr>
            </a:pPr>
            <a:r>
              <a:rPr sz="1125">
                <a:solidFill>
                  <a:srgbClr val="8A8A8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57993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B00A51-A9D5-4A43-9EB6-D49527C9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채용 이후 업무는 쪼개져 있고, 책임은 기업에 남는다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47F9A-6F16-4B72-B50F-D92D4A94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0743A-2679-41CB-9051-DB8FA5A3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123950"/>
            <a:ext cx="1905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41ED2-7589-43C8-AD05-16CD8AEC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1811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문제의 본질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BFEC4-3F5E-45F6-9181-E527B08E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1A0DA-C282-4392-B669-C535A434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채용 이후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데이터 공백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524DC-8BF4-4267-8C65-F88B853E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E8F1FF"/>
                </a:solidFill>
              </a:defRPr>
            </a:pPr>
            <a:r>
              <a:rPr sz="1088">
                <a:solidFill>
                  <a:srgbClr val="E8F1FF"/>
                </a:solidFill>
              </a:rPr>
              <a:t>고용·체류·임금·환급·인증 정보가</a:t>
            </a:r>
          </a:p>
          <a:p xmlns:a="http://schemas.openxmlformats.org/drawingml/2006/main">
            <a:pPr algn="ctr">
              <a:defRPr sz="1088">
                <a:solidFill>
                  <a:srgbClr val="E8F1FF"/>
                </a:solidFill>
              </a:defRPr>
            </a:pPr>
            <a:r>
              <a:rPr sz="1088">
                <a:solidFill>
                  <a:srgbClr val="E8F1FF"/>
                </a:solidFill>
              </a:rPr>
              <a:t>각자 다른 시스템에 흩어져 있음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45FE4-90EB-4A8D-9695-C08B6C4F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55C17-D07E-4FA5-9BD6-4501D08A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86860-40E1-4C74-B2F4-E0350281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668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기업 관리자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8F43E-F76D-460A-906C-A29D48D7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체류만료·임금요건·서류미비를</a:t>
            </a:r>
          </a:p>
          <a:p xmlns:a="http://schemas.openxmlformats.org/drawingml/2006/main">
            <a:pPr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늦게 발견하고 책임은 기업에 남음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ABE80-AFEE-4BE4-B711-01C4AC09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76200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A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70B7B-29C9-4E62-A98B-D8252DD9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ACCF7-E58D-41A3-855E-93F93F13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26F13-3B0A-4B43-8F51-B819DE99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외국인 근로자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ED812-2DD1-4DAF-87B3-57F9B742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국민연금·퇴직금·보험 환급과</a:t>
            </a:r>
          </a:p>
          <a:p xmlns:a="http://schemas.openxmlformats.org/drawingml/2006/main">
            <a:pPr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급여 적정성을 모국어로 알기 어려움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AED6B-6E39-4EC7-A2E6-83E20EEC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57550"/>
            <a:ext cx="762000" cy="-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A6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31A08-A88B-4034-88D3-3CF7A077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84F6D-9DC1-4AF8-ACF2-02373EC5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B8EEB-AFCE-448E-AE8C-20E58F8D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인증·금융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0F5A7-210A-46DA-8283-062400C5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외국인 thin-file로 본인확인과</a:t>
            </a:r>
          </a:p>
          <a:p xmlns:a="http://schemas.openxmlformats.org/drawingml/2006/main">
            <a:pPr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신용평가·금융 연결이 단절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7D4DE-6017-4B6E-8674-1E2C3674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05350"/>
            <a:ext cx="762000" cy="-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9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EB1207-7887-491C-B351-38770FC3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762000" cy="-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A9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62452C-2F4A-4837-AEA0-60005B02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954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05320-CE44-41F5-9ADC-065600AC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9540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EEF8DF-09B3-4C1B-9358-60351C0C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668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VisaDesk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212BB6-C5BF-41C0-A1F4-0F387288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관리자 웹 대시보드</a:t>
            </a:r>
          </a:p>
          <a:p xmlns:a="http://schemas.openxmlformats.org/drawingml/2006/main">
            <a:pPr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만료 알림·임금 점검·전문가 티켓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016B24-B0FC-4B58-B693-43F4B649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76200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A6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727D4C-B9EA-48B5-A03A-56197967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3D7F0C-6A22-4830-958D-974AB425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478A3A-0FEF-42D1-81AF-09122A10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Moneeback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D0CDB6-0739-4D03-A2C2-B94D8CD3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근로자 앱</a:t>
            </a:r>
          </a:p>
          <a:p xmlns:a="http://schemas.openxmlformats.org/drawingml/2006/main">
            <a:pPr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환급 추정·급여 AI·상담·지급계좌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F0E280-7F68-4C2F-A751-BB895E29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762000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98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1CD2B4-9AC9-4BC3-90CD-A501BB1C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F5A773-182B-4B3A-ACDD-997A34C0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114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D46656-59FC-405C-8E66-F376B154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624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ForeignID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B6C4D8-858A-4BC8-96E6-8653E7D5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053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앱 + 모바일웹 인증</a:t>
            </a:r>
          </a:p>
          <a:p xmlns:a="http://schemas.openxmlformats.org/drawingml/2006/main">
            <a:pPr>
              <a:defRPr sz="998">
                <a:solidFill>
                  <a:srgbClr val="343434"/>
                </a:solidFill>
              </a:defRPr>
            </a:pPr>
            <a:r>
              <a:rPr sz="998">
                <a:solidFill>
                  <a:srgbClr val="343434"/>
                </a:solidFill>
              </a:rPr>
              <a:t>L1 여권·셀카 / L2 ARC / L3 계좌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41F677-07F1-4CCE-B98C-3DDFE368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95950"/>
            <a:ext cx="7543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0701D4-6261-4BB0-8B6F-0157DDE8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00725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핵심: 고객별 Pain은 달라도 해결 원천은 하나 - 동의 기반의 채용 이후 데이터 파이프라인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3EED1E-AA72-405B-B23D-60C0CA76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2E6"/>
                </a:solidFill>
              </a:defRPr>
            </a:pPr>
            <a:r>
              <a:rPr sz="1350" b="1">
                <a:solidFill>
                  <a:srgbClr val="2452E6"/>
                </a:solidFill>
              </a:rPr>
              <a:t>PLUGnx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087674-0430-409C-9C62-A024823C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34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7D92B4"/>
                </a:solidFill>
              </a:defRPr>
            </a:pPr>
            <a:r>
              <a:rPr sz="660">
                <a:solidFill>
                  <a:srgbClr val="7D92B4"/>
                </a:solidFill>
              </a:rPr>
              <a:t>Copyright (C) 2026 PlugNX. All rights reserved | Confidential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CEB99E-CE99-42E7-84D4-51F15F0D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8A8A8A"/>
                </a:solidFill>
              </a:defRPr>
            </a:pPr>
            <a:r>
              <a:rPr sz="1125">
                <a:solidFill>
                  <a:srgbClr val="8A8A8A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523005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452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203D11-9EFB-4D51-A432-EA92F0E0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38125"/>
            <a:ext cx="3286125" cy="7667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3F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CFFC4-5B4A-4088-90B1-60BEF4B9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571500"/>
            <a:ext cx="3000375" cy="8286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5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DD83A-F0AF-418B-9DDF-312D45F1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381000"/>
            <a:ext cx="1714500" cy="77628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F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AC4E7-B1A2-478E-A255-5F7F159E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PLUGnx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C822A-AA9F-427E-8E15-B081C419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9D8F7"/>
                </a:solidFill>
              </a:defRPr>
            </a:pPr>
            <a:r>
              <a:rPr sz="2100" b="1">
                <a:solidFill>
                  <a:srgbClr val="A9D8F7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BD32B-545B-4761-846A-477AE11A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시장 진입 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A3AAC-6F37-4F3C-BF76-7679CE4C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EAF3FF"/>
                </a:solidFill>
              </a:defRPr>
            </a:pPr>
            <a:r>
              <a:rPr sz="1500">
                <a:solidFill>
                  <a:srgbClr val="EAF3FF"/>
                </a:solidFill>
              </a:rPr>
              <a:t>B2B 지불의사로 시작해 ForeignID 데이터 레이어를 만들고,</a:t>
            </a:r>
          </a:p>
          <a:p xmlns:a="http://schemas.openxmlformats.org/drawingml/2006/main">
            <a:pPr>
              <a:defRPr sz="1500">
                <a:solidFill>
                  <a:srgbClr val="EAF3FF"/>
                </a:solidFill>
              </a:defRPr>
            </a:pPr>
            <a:r>
              <a:rPr sz="1500">
                <a:solidFill>
                  <a:srgbClr val="EAF3FF"/>
                </a:solidFill>
              </a:rPr>
              <a:t>B2C 금융 LTV로 확장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E96B6-2CC3-4D74-9978-860C4778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19350"/>
            <a:ext cx="63817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DEA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B5594-8AEA-493C-8069-CFD32B02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533400" cy="-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DEA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0A42D-03F0-4815-8F91-620100DF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192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73C66-FBF9-44B2-BADE-DF3996BF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8669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2E6"/>
                </a:solidFill>
              </a:defRPr>
            </a:pPr>
            <a:r>
              <a:rPr sz="1500" b="1">
                <a:solidFill>
                  <a:srgbClr val="2452E6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07450-33E1-43E8-82C3-9378D594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717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2E6"/>
                </a:solidFill>
              </a:defRPr>
            </a:pPr>
            <a:r>
              <a:rPr sz="1800" b="1">
                <a:solidFill>
                  <a:srgbClr val="2452E6"/>
                </a:solidFill>
              </a:rPr>
              <a:t>기업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5ADA6-FFF1-4AC9-8E2E-C9521454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5908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2452E6"/>
                </a:solidFill>
              </a:defRPr>
            </a:pPr>
            <a:r>
              <a:rPr sz="1088" b="1">
                <a:solidFill>
                  <a:srgbClr val="2452E6"/>
                </a:solidFill>
              </a:rPr>
              <a:t>VisaDesk</a:t>
            </a:r>
          </a:p>
          <a:p xmlns:a="http://schemas.openxmlformats.org/drawingml/2006/main">
            <a:pPr algn="ctr">
              <a:defRPr sz="1088" b="1">
                <a:solidFill>
                  <a:srgbClr val="2452E6"/>
                </a:solidFill>
              </a:defRPr>
            </a:pPr>
            <a:r>
              <a:rPr sz="1088" b="1">
                <a:solidFill>
                  <a:srgbClr val="2452E6"/>
                </a:solidFill>
              </a:rPr>
              <a:t>준법관리 결제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F5590-B217-407D-BFE1-82B92AA3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432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AA462-96E5-4749-B2EF-10178706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3909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A253D5-3715-47C5-A378-40B6D5B3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인증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1B6E7-5877-424D-852F-6E44DF4D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148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</a:defRPr>
            </a:pPr>
            <a:r>
              <a:rPr sz="1088" b="1">
                <a:solidFill>
                  <a:srgbClr val="111111"/>
                </a:solidFill>
              </a:rPr>
              <a:t>ForeignID</a:t>
            </a:r>
          </a:p>
          <a:p xmlns:a="http://schemas.openxmlformats.org/drawingml/2006/main">
            <a:pPr algn="ctr">
              <a:defRPr sz="1088" b="1">
                <a:solidFill>
                  <a:srgbClr val="111111"/>
                </a:solidFill>
              </a:defRPr>
            </a:pPr>
            <a:r>
              <a:rPr sz="1088" b="1">
                <a:solidFill>
                  <a:srgbClr val="111111"/>
                </a:solidFill>
              </a:rPr>
              <a:t>동의 기반 데이터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B37D9-2E44-471F-B446-E0A69350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6192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E3AB5-78C2-4CD0-BDC7-6F211761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8669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A66A"/>
                </a:solidFill>
              </a:defRPr>
            </a:pPr>
            <a:r>
              <a:rPr sz="1500" b="1">
                <a:solidFill>
                  <a:srgbClr val="13A66A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E3EB1-EB62-4547-A723-EDDBEC45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717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A66A"/>
                </a:solidFill>
              </a:defRPr>
            </a:pPr>
            <a:r>
              <a:rPr sz="1800" b="1">
                <a:solidFill>
                  <a:srgbClr val="13A66A"/>
                </a:solidFill>
              </a:rPr>
              <a:t>근로자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79560-919E-4F26-A3FB-510DB857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5908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3A66A"/>
                </a:solidFill>
              </a:defRPr>
            </a:pPr>
            <a:r>
              <a:rPr sz="1088" b="1">
                <a:solidFill>
                  <a:srgbClr val="13A66A"/>
                </a:solidFill>
              </a:rPr>
              <a:t>Moneeback</a:t>
            </a:r>
          </a:p>
          <a:p xmlns:a="http://schemas.openxmlformats.org/drawingml/2006/main">
            <a:pPr algn="ctr">
              <a:defRPr sz="1088" b="1">
                <a:solidFill>
                  <a:srgbClr val="13A66A"/>
                </a:solidFill>
              </a:defRPr>
            </a:pPr>
            <a:r>
              <a:rPr sz="1088" b="1">
                <a:solidFill>
                  <a:srgbClr val="13A66A"/>
                </a:solidFill>
              </a:rPr>
              <a:t>환급·금융 확장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4EF0D-BA65-4BCE-9B60-F60E21D6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4629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0EBDB5-5342-4D65-A30C-DD3E758C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1020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A9E"/>
                </a:solidFill>
              </a:defRPr>
            </a:pPr>
            <a:r>
              <a:rPr sz="1200" b="1">
                <a:solidFill>
                  <a:srgbClr val="315A9E"/>
                </a:solidFill>
              </a:rPr>
              <a:t>첫 고객은 기업 · 확장은 근로자 앱 · 방어력은 인증/금융 데이터</a:t>
            </a:r>
          </a:p>
        </p:txBody>
      </p:sp>
    </p:spTree>
    <p:extLst>
      <p:ext uri="{BB962C8B-B14F-4D97-AF65-F5344CB8AC3E}">
        <p14:creationId xmlns:p14="http://schemas.microsoft.com/office/powerpoint/2010/main" val="963713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D67162-C728-46FA-83CE-C4B85516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시장규모: B2C 216만 + B2B 49만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DF9CF-C197-4075-8EFD-2C1C50A9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F34E5-C907-4411-A645-87C71E3C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889AC-78B9-4EFA-99C2-C931CC10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TAM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EC0CC-0FB5-4081-9566-83A59861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D758B-6C1D-4AFD-B038-76931EFC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278.3만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EBA02-6990-466E-B43F-D8A1DF6D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EAF3FF"/>
                </a:solidFill>
              </a:defRPr>
            </a:pPr>
            <a:r>
              <a:rPr sz="1125">
                <a:solidFill>
                  <a:srgbClr val="EAF3FF"/>
                </a:solidFill>
              </a:rPr>
              <a:t>체류외국인 전체</a:t>
            </a:r>
          </a:p>
          <a:p xmlns:a="http://schemas.openxmlformats.org/drawingml/2006/main">
            <a:pPr algn="ctr">
              <a:defRPr sz="1125">
                <a:solidFill>
                  <a:srgbClr val="EAF3FF"/>
                </a:solidFill>
              </a:defRPr>
            </a:pPr>
            <a:r>
              <a:rPr sz="1125">
                <a:solidFill>
                  <a:srgbClr val="EAF3FF"/>
                </a:solidFill>
              </a:rPr>
              <a:t>2025.12 기준 SSOT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6609E-A7F8-4F65-B903-B2B9FF11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574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C0510-EDDB-457A-A037-28D3D3FE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216만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F65AC-373A-4123-A16E-0B35B37D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575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EAF3FF"/>
                </a:solidFill>
              </a:defRPr>
            </a:pPr>
            <a:r>
              <a:rPr sz="1125">
                <a:solidFill>
                  <a:srgbClr val="EAF3FF"/>
                </a:solidFill>
              </a:rPr>
              <a:t>B2C TAM</a:t>
            </a:r>
          </a:p>
          <a:p xmlns:a="http://schemas.openxmlformats.org/drawingml/2006/main">
            <a:pPr algn="ctr">
              <a:defRPr sz="1125">
                <a:solidFill>
                  <a:srgbClr val="EAF3FF"/>
                </a:solidFill>
              </a:defRPr>
            </a:pPr>
            <a:r>
              <a:rPr sz="1125">
                <a:solidFill>
                  <a:srgbClr val="EAF3FF"/>
                </a:solidFill>
              </a:rPr>
              <a:t>장기체류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7EBBE-E0EB-4B23-A2D0-4E0C8CBE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289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8FF1F-45C5-47A1-B9CA-AEC504C3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909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49만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9887F-8102-4B2A-B34D-A97834A5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528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111"/>
                </a:solidFill>
              </a:defRPr>
            </a:pPr>
            <a:r>
              <a:rPr sz="938" b="1">
                <a:solidFill>
                  <a:srgbClr val="111111"/>
                </a:solidFill>
              </a:rPr>
              <a:t>B2B TAM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460AF-1A62-4FB0-B072-F915059C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1428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E6142-6A65-4068-8CE8-6133EBB4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1239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진입 순서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4F731-4BDA-458E-A696-CBBB51C3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90371-5590-4F67-9C84-115A4E8A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38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24FF4-AE39-499F-BE6E-CD13578C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431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BC4B1-195A-4424-A849-D009B995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A9E"/>
                </a:solidFill>
              </a:defRPr>
            </a:pPr>
            <a:r>
              <a:rPr sz="1125" b="1">
                <a:solidFill>
                  <a:srgbClr val="315A9E"/>
                </a:solidFill>
              </a:rPr>
              <a:t>먼저 결제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6957D-DD96-435F-8805-F3728CC5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193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VisaDesk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4F6A9-F9BB-461F-B288-30F2423F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669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43434"/>
                </a:solidFill>
              </a:defRPr>
            </a:pPr>
            <a:r>
              <a:rPr sz="938">
                <a:solidFill>
                  <a:srgbClr val="343434"/>
                </a:solidFill>
              </a:rPr>
              <a:t>E계열 취업비자 기업의</a:t>
            </a:r>
          </a:p>
          <a:p xmlns:a="http://schemas.openxmlformats.org/drawingml/2006/main">
            <a:pPr>
              <a:defRPr sz="938">
                <a:solidFill>
                  <a:srgbClr val="343434"/>
                </a:solidFill>
              </a:defRPr>
            </a:pPr>
            <a:r>
              <a:rPr sz="938">
                <a:solidFill>
                  <a:srgbClr val="343434"/>
                </a:solidFill>
              </a:rPr>
              <a:t>준법관리 예산으로 시작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13F83-E66B-4E14-9649-C4A351DB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146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A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AFAE48-706A-4F57-B47B-09B4ECDD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2CAADF-F2E1-432D-96C9-56D82875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57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7AB68-13E6-4F75-901D-F613A58D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623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707055-9246-45A7-9D46-C988A925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099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452E6"/>
                </a:solidFill>
              </a:defRPr>
            </a:pPr>
            <a:r>
              <a:rPr sz="1125" b="1">
                <a:solidFill>
                  <a:srgbClr val="2452E6"/>
                </a:solidFill>
              </a:rPr>
              <a:t>데이터 연결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37C86A-48FB-4784-8C7C-841E0C9E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ForeignID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CF0D6-6CA4-4262-9D3C-5357D9B8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861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43434"/>
                </a:solidFill>
              </a:defRPr>
            </a:pPr>
            <a:r>
              <a:rPr sz="938">
                <a:solidFill>
                  <a:srgbClr val="343434"/>
                </a:solidFill>
              </a:rPr>
              <a:t>여권·ARC·계좌·전자서명</a:t>
            </a:r>
          </a:p>
          <a:p xmlns:a="http://schemas.openxmlformats.org/drawingml/2006/main">
            <a:pPr>
              <a:defRPr sz="938">
                <a:solidFill>
                  <a:srgbClr val="343434"/>
                </a:solidFill>
              </a:defRPr>
            </a:pPr>
            <a:r>
              <a:rPr sz="938">
                <a:solidFill>
                  <a:srgbClr val="343434"/>
                </a:solidFill>
              </a:rPr>
              <a:t>동의 기반 신원 레이어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7340C8-EF89-42DA-8536-4700C114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338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5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8FB648-53C7-43C5-8A9F-F1C053E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390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FD5E28-89CD-43E6-93ED-CBAEDB8B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76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C73D22-3C5B-4E7D-A20D-3DDD5A67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815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F5AD31-2537-4AB6-AC78-CF3D2106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2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A66A"/>
                </a:solidFill>
              </a:defRPr>
            </a:pPr>
            <a:r>
              <a:rPr sz="1125" b="1">
                <a:solidFill>
                  <a:srgbClr val="13A66A"/>
                </a:solidFill>
              </a:rPr>
              <a:t>규모 확장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E34433-2FC1-48A6-B361-DEBB819F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577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Moneeback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C9EA9C-4A64-4F98-8C3E-CC9D8FF7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053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343434"/>
                </a:solidFill>
              </a:defRPr>
            </a:pPr>
            <a:r>
              <a:rPr sz="938">
                <a:solidFill>
                  <a:srgbClr val="343434"/>
                </a:solidFill>
              </a:rPr>
              <a:t>장기체류 B2C 216만에</a:t>
            </a:r>
          </a:p>
          <a:p xmlns:a="http://schemas.openxmlformats.org/drawingml/2006/main">
            <a:pPr>
              <a:defRPr sz="938">
                <a:solidFill>
                  <a:srgbClr val="343434"/>
                </a:solidFill>
              </a:defRPr>
            </a:pPr>
            <a:r>
              <a:rPr sz="938">
                <a:solidFill>
                  <a:srgbClr val="343434"/>
                </a:solidFill>
              </a:rPr>
              <a:t>환급·금융 LTV 연결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0FCAFC-7DE4-4BCC-BCE0-6124E62E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267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54E870-D1FB-4ABB-8D6C-76A71DAA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시장 해석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B8103F-8566-4881-9976-25D46448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10200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43434"/>
                </a:solidFill>
              </a:defRPr>
            </a:pPr>
            <a:r>
              <a:rPr sz="1275" b="1">
                <a:solidFill>
                  <a:srgbClr val="343434"/>
                </a:solidFill>
              </a:rPr>
              <a:t>B2B는 지불의사와 데이터 입구, B2C는 규모와 금융 LTV입니다. 둘을 연결해야 PlugNX의 right-to-win이 생깁니다.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6A5403-4495-44B0-8179-CB8651D3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2E6"/>
                </a:solidFill>
              </a:defRPr>
            </a:pPr>
            <a:r>
              <a:rPr sz="1350" b="1">
                <a:solidFill>
                  <a:srgbClr val="2452E6"/>
                </a:solidFill>
              </a:rPr>
              <a:t>PLUGnx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B20FCD-51F9-4ADD-9268-6954AB30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34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7D92B4"/>
                </a:solidFill>
              </a:defRPr>
            </a:pPr>
            <a:r>
              <a:rPr sz="660">
                <a:solidFill>
                  <a:srgbClr val="7D92B4"/>
                </a:solidFill>
              </a:rPr>
              <a:t>Copyright (C) 2026 PlugNX. All rights reserved | Confidential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51F719-16B8-48CA-8134-F9AAE1C4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8A8A8A"/>
                </a:solidFill>
              </a:defRPr>
            </a:pPr>
            <a:r>
              <a:rPr sz="1125">
                <a:solidFill>
                  <a:srgbClr val="8A8A8A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7642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AAA0CB-7D9F-4DF2-B535-6113FF8C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경쟁 공백: 양면 결합은 아직 비어 있음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AD843-2357-4DC1-97C8-B3092515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E4956-9457-401A-BBD8-989B386F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445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CC6E5-4B66-4E8E-9EB8-CA4C9C1D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14450"/>
            <a:ext cx="24765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56230-6F96-4ADD-A201-2F6D1697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445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72E2B-4318-4090-AE10-E101EB27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B46E8-D261-49C6-B2FA-B3A8AE0C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144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FA462-92F9-489F-A56B-7808140C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E7781"/>
                </a:solidFill>
              </a:defRPr>
            </a:pPr>
            <a:r>
              <a:rPr sz="900">
                <a:solidFill>
                  <a:srgbClr val="6E7781"/>
                </a:solidFill>
              </a:rPr>
              <a:t>단변 서비스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BCF42-8BDA-4292-AEF7-24A9BA40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48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E7781"/>
                </a:solidFill>
              </a:defRPr>
            </a:pPr>
            <a:r>
              <a:rPr sz="900">
                <a:solidFill>
                  <a:srgbClr val="6E7781"/>
                </a:solidFill>
              </a:rPr>
              <a:t>양면 B2B+B2C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CFE14-B307-4D75-B4C8-546A15D4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" y="158115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E7781"/>
                </a:solidFill>
              </a:defRPr>
            </a:pPr>
            <a:r>
              <a:rPr sz="900">
                <a:solidFill>
                  <a:srgbClr val="6E7781"/>
                </a:solidFill>
              </a:rPr>
              <a:t>인증·데이터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B984A-88F3-4B86-A26B-2080B298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550" y="4476750"/>
            <a:ext cx="971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E7781"/>
                </a:solidFill>
              </a:defRPr>
            </a:pPr>
            <a:r>
              <a:rPr sz="900">
                <a:solidFill>
                  <a:srgbClr val="6E7781"/>
                </a:solidFill>
              </a:rPr>
              <a:t>생활·중개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25FF2-1190-4B5A-8EA4-B00A5188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291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4CCC7-78C6-4812-B198-B9CE8530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862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송금/생활앱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0F023-02DD-43BB-B036-CE41706E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8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B59C9-DC5B-40A6-8B0F-E86E0F1D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862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채용앱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35D49-76F1-415A-BA0F-3CA1D6D1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291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8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B7047-0579-4D44-8968-793A2217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1485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B2C 금융앱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D22AE-C53B-49E2-898D-100FA863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95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3E85D-22B3-46AB-8219-F1ADB512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622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비자 행정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89FD8-797A-4158-BCB3-540C2DE8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98120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5FD47-7FC1-4A3F-A29B-8B4722A8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PlugNX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5A906-2DD2-4E73-B931-71A66A0E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04950"/>
            <a:ext cx="43434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3B025-4F32-4CB5-A799-A8314B24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04950"/>
            <a:ext cx="4343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40D554-36A8-4690-BF64-68EC787B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621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White Space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A6F4F0-DE5B-4EDA-ABF0-529EA3F8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19325"/>
            <a:ext cx="39243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343434"/>
                </a:solidFill>
              </a:defRPr>
            </a:pPr>
            <a:r>
              <a:rPr sz="1013">
                <a:solidFill>
                  <a:srgbClr val="343434"/>
                </a:solidFill>
              </a:rPr>
              <a:t>공개 출처상 다수 플레이어는 채용, 송금, 생활정보, 유학생 행정처럼 한 면에 집중합니다.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13">
                <a:solidFill>
                  <a:srgbClr val="343434"/>
                </a:solidFill>
              </a:defRPr>
            </a:pPr>
            <a:r>
              <a:rPr sz="1013">
                <a:solidFill>
                  <a:srgbClr val="343434"/>
                </a:solidFill>
              </a:rPr>
              <a:t>PlugNX는 기업의 고용·체류 데이터와 근로자의 환급·금융 수요를 ForeignID로 연결해 전환비용과 데이터 해자를 만듭니다.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8AEBF-689D-4DFE-BBF7-E639676C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434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17857A-57B5-483B-B90C-08CC51C0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388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진입 결론: 첫 고객은 기업, 확장은 근로자 앱, 방어력은 인증·금융 데이터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DAC2B9-6D73-456F-B461-1A4CA915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2E6"/>
                </a:solidFill>
              </a:defRPr>
            </a:pPr>
            <a:r>
              <a:rPr sz="1350" b="1">
                <a:solidFill>
                  <a:srgbClr val="2452E6"/>
                </a:solidFill>
              </a:rPr>
              <a:t>PLUGnx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F2DDE3-95A8-48A9-B6AC-9B472A83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34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7D92B4"/>
                </a:solidFill>
              </a:defRPr>
            </a:pPr>
            <a:r>
              <a:rPr sz="660">
                <a:solidFill>
                  <a:srgbClr val="7D92B4"/>
                </a:solidFill>
              </a:rPr>
              <a:t>Copyright (C) 2026 PlugNX. All rights reserved | Confidential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288BA7-F8F7-49C4-851F-E792822A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8A8A8A"/>
                </a:solidFill>
              </a:defRPr>
            </a:pPr>
            <a:r>
              <a:rPr sz="1125">
                <a:solidFill>
                  <a:srgbClr val="8A8A8A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13742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452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69FC34-D9C8-4D5B-A68D-1994CE4A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38125"/>
            <a:ext cx="3286125" cy="7667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3F6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7C963-C9B5-40CB-9F51-8117952F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571500"/>
            <a:ext cx="3000375" cy="8286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5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DF78C-F84D-44E4-B486-4DD9C75B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381000"/>
            <a:ext cx="1714500" cy="77628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F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C9C9C-F312-447E-9065-877CDB0B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PLUGnx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2F111-07BE-4449-A326-ABC8B21A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9D8F7"/>
                </a:solidFill>
              </a:defRPr>
            </a:pPr>
            <a:r>
              <a:rPr sz="2100" b="1">
                <a:solidFill>
                  <a:srgbClr val="A9D8F7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3B0AC-8671-48D0-BF98-11F15290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실제 활용 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2814B-AC99-4177-A1AC-08452896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657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AF3FF"/>
                </a:solidFill>
              </a:defRPr>
            </a:pPr>
            <a:r>
              <a:rPr sz="1575">
                <a:solidFill>
                  <a:srgbClr val="EAF3FF"/>
                </a:solidFill>
              </a:rPr>
              <a:t>웹 대시보드와 외국인 앱 화면을 서비스별로 분리해 보여줌</a:t>
            </a:r>
          </a:p>
        </p:txBody>
      </p:sp>
    </p:spTree>
    <p:extLst>
      <p:ext uri="{BB962C8B-B14F-4D97-AF65-F5344CB8AC3E}">
        <p14:creationId xmlns:p14="http://schemas.microsoft.com/office/powerpoint/2010/main" val="1213342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BA5FFA-F5F3-4E06-8041-2453CD59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Moneeback 앱 화면 - 외국인 근로자 B2C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248B5-B6D4-4ACC-A031-44A546A0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e115379364d02"/>
          <a:stretch xmlns:a="http://schemas.openxmlformats.org/drawingml/2006/main"/>
        </p:blipFill>
        <p:spPr>
          <a:xfrm xmlns:a="http://schemas.openxmlformats.org/drawingml/2006/main">
            <a:off x="1339836" y="1009650"/>
            <a:ext cx="9512327" cy="5219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F75D4-2DD7-4B51-89B3-369F7DDD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A1E0C-4950-47F0-9000-5296D93B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914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A9E"/>
                </a:solidFill>
              </a:defRPr>
            </a:pPr>
            <a:r>
              <a:rPr sz="900" b="1">
                <a:solidFill>
                  <a:srgbClr val="315A9E"/>
                </a:solidFill>
              </a:rPr>
              <a:t>앱 전용 화면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5067B-1409-4AD7-9447-8CC86015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2573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70476-928D-402B-849C-66969310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104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A9E"/>
                </a:solidFill>
              </a:defRPr>
            </a:pPr>
            <a:r>
              <a:rPr sz="900" b="1">
                <a:solidFill>
                  <a:srgbClr val="315A9E"/>
                </a:solidFill>
              </a:rPr>
              <a:t>환급·급여·상담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B5A20-ADB8-467E-8A88-9B67813C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2E6"/>
                </a:solidFill>
              </a:defRPr>
            </a:pPr>
            <a:r>
              <a:rPr sz="1350" b="1">
                <a:solidFill>
                  <a:srgbClr val="2452E6"/>
                </a:solidFill>
              </a:rPr>
              <a:t>PLUGnx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E5937-5930-4732-A236-ED3B3E18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34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7D92B4"/>
                </a:solidFill>
              </a:defRPr>
            </a:pPr>
            <a:r>
              <a:rPr sz="660">
                <a:solidFill>
                  <a:srgbClr val="7D92B4"/>
                </a:solidFill>
              </a:rPr>
              <a:t>Copyright (C) 2026 PlugNX. All rights reserved | Confidential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52960-C044-4C90-A403-3373359C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8A8A8A"/>
                </a:solidFill>
              </a:defRPr>
            </a:pPr>
            <a:r>
              <a:rPr sz="1125">
                <a:solidFill>
                  <a:srgbClr val="8A8A8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852439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F9EE30-B395-4BB4-9ACA-73CAD5CE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VisaDesk 관리자 웹 대시보드 - 기업 준법관리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77AD3-660B-4B46-A19F-4D1B2381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9181b09d34276"/>
          <a:stretch xmlns:a="http://schemas.openxmlformats.org/drawingml/2006/main"/>
        </p:blipFill>
        <p:spPr>
          <a:xfrm xmlns:a="http://schemas.openxmlformats.org/drawingml/2006/main">
            <a:off x="2381250" y="1066800"/>
            <a:ext cx="7429500" cy="495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2B5A8-F765-4590-A305-004290A0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11239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3D986-557F-4CD6-97BA-9FF61504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대시보드만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분리 표시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5605F-DBAE-43CB-B8F6-FBC7D5C4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14450"/>
            <a:ext cx="11239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B827E-428B-4158-8B4B-B144839B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504950"/>
            <a:ext cx="8953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343434"/>
                </a:solidFill>
              </a:defRPr>
            </a:pPr>
            <a:r>
              <a:rPr sz="938">
                <a:solidFill>
                  <a:srgbClr val="343434"/>
                </a:solidFill>
              </a:rPr>
              <a:t>핵심 기능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938">
                <a:solidFill>
                  <a:srgbClr val="343434"/>
                </a:solidFill>
              </a:defRPr>
            </a:pPr>
            <a:r>
              <a:rPr sz="938">
                <a:solidFill>
                  <a:srgbClr val="343434"/>
                </a:solidFill>
              </a:rPr>
              <a:t>- 만료 알림</a:t>
            </a:r>
          </a:p>
          <a:p xmlns:a="http://schemas.openxmlformats.org/drawingml/2006/main">
            <a:pPr algn="ctr">
              <a:defRPr sz="938">
                <a:solidFill>
                  <a:srgbClr val="343434"/>
                </a:solidFill>
              </a:defRPr>
            </a:pPr>
            <a:r>
              <a:rPr sz="938">
                <a:solidFill>
                  <a:srgbClr val="343434"/>
                </a:solidFill>
              </a:rPr>
              <a:t>- 임금 점검</a:t>
            </a:r>
          </a:p>
          <a:p xmlns:a="http://schemas.openxmlformats.org/drawingml/2006/main">
            <a:pPr algn="ctr">
              <a:defRPr sz="938">
                <a:solidFill>
                  <a:srgbClr val="343434"/>
                </a:solidFill>
              </a:defRPr>
            </a:pPr>
            <a:r>
              <a:rPr sz="938">
                <a:solidFill>
                  <a:srgbClr val="343434"/>
                </a:solidFill>
              </a:rPr>
              <a:t>- 서류 미비</a:t>
            </a:r>
          </a:p>
          <a:p xmlns:a="http://schemas.openxmlformats.org/drawingml/2006/main">
            <a:pPr algn="ctr">
              <a:defRPr sz="938">
                <a:solidFill>
                  <a:srgbClr val="343434"/>
                </a:solidFill>
              </a:defRPr>
            </a:pPr>
            <a:r>
              <a:rPr sz="938">
                <a:solidFill>
                  <a:srgbClr val="343434"/>
                </a:solidFill>
              </a:rPr>
              <a:t>- 전문가 티켓</a:t>
            </a:r>
          </a:p>
          <a:p xmlns:a="http://schemas.openxmlformats.org/drawingml/2006/main">
            <a:pPr algn="ctr">
              <a:defRPr sz="938">
                <a:solidFill>
                  <a:srgbClr val="343434"/>
                </a:solidFill>
              </a:defRPr>
            </a:pPr>
            <a:r>
              <a:rPr sz="938">
                <a:solidFill>
                  <a:srgbClr val="343434"/>
                </a:solidFill>
              </a:rPr>
              <a:t>- Moneeback 연계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7F72E-2B01-4B5F-8EA8-A1C69D2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2E6"/>
                </a:solidFill>
              </a:defRPr>
            </a:pPr>
            <a:r>
              <a:rPr sz="1350" b="1">
                <a:solidFill>
                  <a:srgbClr val="2452E6"/>
                </a:solidFill>
              </a:rPr>
              <a:t>PLUGnx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7D8B4-45D3-402C-8BD4-4A259FDF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34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7D92B4"/>
                </a:solidFill>
              </a:defRPr>
            </a:pPr>
            <a:r>
              <a:rPr sz="660">
                <a:solidFill>
                  <a:srgbClr val="7D92B4"/>
                </a:solidFill>
              </a:rPr>
              <a:t>Copyright (C) 2026 PlugNX. All rights reserved | Confidential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B5FB2-23B7-49AF-8567-4E6AF074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8A8A8A"/>
                </a:solidFill>
              </a:defRPr>
            </a:pPr>
            <a:r>
              <a:rPr sz="1125">
                <a:solidFill>
                  <a:srgbClr val="8A8A8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989062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1FA7BD-B40C-4016-8A33-A4ACAC0B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ForeignID 앱 화면 - 외국인 본인인증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4C32D-502E-4F40-809A-A610B9E5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3dad49ff7449c"/>
          <a:stretch xmlns:a="http://schemas.openxmlformats.org/drawingml/2006/main"/>
        </p:blipFill>
        <p:spPr>
          <a:xfrm xmlns:a="http://schemas.openxmlformats.org/drawingml/2006/main">
            <a:off x="1458732" y="1009650"/>
            <a:ext cx="9274536" cy="52197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E5F63-2E8D-4CBF-BD2C-762B361A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181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98E0C-D541-4156-96C0-94FF7043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1028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A9E"/>
                </a:solidFill>
              </a:defRPr>
            </a:pPr>
            <a:r>
              <a:rPr sz="900" b="1">
                <a:solidFill>
                  <a:srgbClr val="315A9E"/>
                </a:solidFill>
              </a:rPr>
              <a:t>앱 + 모바일웹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C73D8-2587-42AD-9DED-09365EC4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0668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060E1-C130-40D1-8ABB-4628FFF4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914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A9E"/>
                </a:solidFill>
              </a:defRPr>
            </a:pPr>
            <a:r>
              <a:rPr sz="900" b="1">
                <a:solidFill>
                  <a:srgbClr val="315A9E"/>
                </a:solidFill>
              </a:rPr>
              <a:t>L1-L3 인증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2F98B-D6BF-4A7F-B33C-DC5F7946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198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13">
                <a:solidFill>
                  <a:srgbClr val="6E7781"/>
                </a:solidFill>
              </a:defRPr>
            </a:pPr>
            <a:r>
              <a:rPr sz="1013">
                <a:solidFill>
                  <a:srgbClr val="6E7781"/>
                </a:solidFill>
              </a:rPr>
              <a:t>앱 설치가 어려운 사용자는 모바일웹 인증 경로로 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CCD5C-85B6-421B-9BD2-EB64FBD0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2E6"/>
                </a:solidFill>
              </a:defRPr>
            </a:pPr>
            <a:r>
              <a:rPr sz="1350" b="1">
                <a:solidFill>
                  <a:srgbClr val="2452E6"/>
                </a:solidFill>
              </a:rPr>
              <a:t>PLUGnx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C8A83-A028-4C77-8ED9-C0AFBC32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34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7D92B4"/>
                </a:solidFill>
              </a:defRPr>
            </a:pPr>
            <a:r>
              <a:rPr sz="660">
                <a:solidFill>
                  <a:srgbClr val="7D92B4"/>
                </a:solidFill>
              </a:rPr>
              <a:t>Copyright (C) 2026 PlugNX. All rights reserved | Confidential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2699B-CA52-44E4-B11D-3BC7A251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8A8A8A"/>
                </a:solidFill>
              </a:defRPr>
            </a:pPr>
            <a:r>
              <a:rPr sz="1125">
                <a:solidFill>
                  <a:srgbClr val="8A8A8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912545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165FC1-AB30-41F2-81F3-817E1D9E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2026년 하반기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4FBDE-8E73-4E21-93EC-DBBA4028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29B87-6F43-404F-B1F3-96691BEE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E8CB5-B89C-41F9-A40E-C658E91D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추진과제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C7EE7-02AB-4669-840A-0D417327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144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D69FC-4148-48F2-BEC5-C25C6C1E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90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7월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41BDF-B111-438D-A24D-ED14EE59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144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34A64-5068-44E6-9335-5827942F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990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8월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9B4F5-90AD-418C-B074-2B03E23A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9144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158F4-8B26-48D3-8DF4-C9E8010F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990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9월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8808F-24F5-4BCE-8CA7-CA9FAEC1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9144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3973D-C373-437F-864E-EBB348EB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90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10월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AE759-D7BC-4DE0-9A6E-B061C134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9144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E4974-1DE5-43DF-89CA-B1FAB9AD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990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11월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C15AF-BE79-4F2D-94A0-5D7A84F0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9144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BCE60-54F1-4756-B8D9-69559469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990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12월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187C3-1EB4-42CE-BB21-C327E5EB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1114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2BF02-24D2-4FA5-9B62-6DE91C43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1. PoC 및 제품 구체화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852A2-D556-4153-A692-7FB78461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50710-09FD-4106-B2BF-90BDE5EC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111"/>
                </a:solidFill>
              </a:defRPr>
            </a:pPr>
            <a:r>
              <a:rPr sz="1013" b="0">
                <a:solidFill>
                  <a:srgbClr val="111111"/>
                </a:solidFill>
              </a:rPr>
              <a:t>VisaDesk PoC 15사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C75B48-3FC5-4ED3-859D-1A6754FF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7642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CCB5C-B841-4B81-99E2-9425CA92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3357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비치헤드 인터뷰 / LOI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36FBB-2782-4695-BCB7-F1FB5255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7642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E73F5-6C3A-4F52-82F4-0D0BDC3F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3357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대시보드 MVP / 전문가 티켓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B3C49-0931-463A-904B-BECA43C1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7642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DF3F3A-3962-43BF-B485-F890C5B2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3357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유료 PoC 전환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73BF7-7499-4F47-B0EF-8EC2AFF6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028C06-FBE4-49C5-8272-F2BC230B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111"/>
                </a:solidFill>
              </a:defRPr>
            </a:pPr>
            <a:r>
              <a:rPr sz="1013" b="0">
                <a:solidFill>
                  <a:srgbClr val="111111"/>
                </a:solidFill>
              </a:rPr>
              <a:t>Moneeback MVP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5F859F-3383-46FE-841C-2B35DDA2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288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AD80F2-2A84-4D41-BF7D-43CACAB5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환급 시나리오 / 다국어 온보딩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E1837C-FFEA-438F-8497-ADC1F7C8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288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9D58C9-CB20-4706-BBFF-7A681626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8602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서류 업로드 / 급여 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E1E54A-9502-4B36-9FC4-E3FFB8BB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288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EEE77E-0C5E-4F3F-8621-89B97A65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8602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상담 / 지급 계좌 연결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FDBA64-EB5C-4ED7-983C-63354FF4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1114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2732D1-4518-4CB0-8746-A2F40E4A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2. 인증 및 데이터 레이어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0A3565-9AF5-4EF5-8E67-6FB1F5FD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619F8D-F726-458D-B9C2-59A6AF5A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111"/>
                </a:solidFill>
              </a:defRPr>
            </a:pPr>
            <a:r>
              <a:rPr sz="1013" b="0">
                <a:solidFill>
                  <a:srgbClr val="111111"/>
                </a:solidFill>
              </a:rPr>
              <a:t>ForeignID L1-L3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4A5157-BA81-4BC7-B7A3-C797910C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813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0D061C-B819-4260-B919-76D516F4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3852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L1 여권+셀카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890593-A555-4947-B021-54922AC0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813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996928-CF5E-4C42-AF70-A0143CDA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3852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L2 ARC+통신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3ABC12-3537-4D40-B748-BF51C734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8137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BE8742-2059-4C5E-8C33-27C3937C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3852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L3 계좌+전자서명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AE83D7-42DF-45BA-840C-738230D3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909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372AB0-FDB6-4893-8BAC-B8A3F185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111"/>
                </a:solidFill>
              </a:defRPr>
            </a:pPr>
            <a:r>
              <a:rPr sz="1013" b="0">
                <a:solidFill>
                  <a:srgbClr val="111111"/>
                </a:solidFill>
              </a:rPr>
              <a:t>데이터/동의 설계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92D552-3FDA-4FF5-93DB-866ADEA7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3382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F86D69-C117-4334-9F61-8F46C653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90975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동의 문구 / 보관 정책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0F874E-7A18-4CE4-B227-0AB13FE7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33825"/>
            <a:ext cx="436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6B21CF-F664-40C4-8613-A48F31E8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90975"/>
            <a:ext cx="424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금융 제휴 API 요구사항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91275F-8461-42CC-A1D2-FF5E6CB0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1114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A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3F0C4B-19CB-4230-8820-5520B6E0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481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3. GTM 및 검증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9BB3C6-4495-44AE-A510-D034A4BC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34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F0C4BD-3F34-451E-9E54-7B0F6B5F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111111"/>
                </a:solidFill>
              </a:defRPr>
            </a:pPr>
            <a:r>
              <a:rPr sz="1013" b="0">
                <a:solidFill>
                  <a:srgbClr val="111111"/>
                </a:solidFill>
              </a:rPr>
              <a:t>영업/파트너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147375-5E0D-4D78-B370-278648AF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86325"/>
            <a:ext cx="436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905A64-915D-4788-80F4-3D5CDDA4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43475"/>
            <a:ext cx="424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제조·농축산·행정사 채널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CCF01B-00D0-4E51-9ED5-E1357A16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86325"/>
            <a:ext cx="436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D024FE-9614-4B85-AAFE-B5787198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43475"/>
            <a:ext cx="424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>
                <a:solidFill>
                  <a:srgbClr val="111111"/>
                </a:solidFill>
              </a:defRPr>
            </a:pPr>
            <a:r>
              <a:rPr sz="863">
                <a:solidFill>
                  <a:srgbClr val="111111"/>
                </a:solidFill>
              </a:rPr>
              <a:t>금융·보험 제휴 검토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37C426-0AB7-4BB5-A1FC-2A5E11EA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343434"/>
                </a:solidFill>
              </a:defRPr>
            </a:pPr>
            <a:r>
              <a:rPr sz="1013" b="1">
                <a:solidFill>
                  <a:srgbClr val="343434"/>
                </a:solidFill>
              </a:rPr>
              <a:t>검증 기준: 8주 15사 / 3,300만원 PoC, 근로자 Moneeback 전환 60%+를 우선 측정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5400EC-5026-42D5-8B6A-D9DFFDB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7700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2E6"/>
                </a:solidFill>
              </a:defRPr>
            </a:pPr>
            <a:r>
              <a:rPr sz="1350" b="1">
                <a:solidFill>
                  <a:srgbClr val="2452E6"/>
                </a:solidFill>
              </a:rPr>
              <a:t>PLUGnx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4832A0-0803-499D-ACF1-C4480A9D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34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">
                <a:solidFill>
                  <a:srgbClr val="7D92B4"/>
                </a:solidFill>
              </a:defRPr>
            </a:pPr>
            <a:r>
              <a:rPr sz="660">
                <a:solidFill>
                  <a:srgbClr val="7D92B4"/>
                </a:solidFill>
              </a:rPr>
              <a:t>Copyright (C) 2026 PlugNX. All rights reserved | Confidential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6776AE-C84C-496D-B156-AACE4D5D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7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8A8A8A"/>
                </a:solidFill>
              </a:defRPr>
            </a:pPr>
            <a:r>
              <a:rPr sz="1125">
                <a:solidFill>
                  <a:srgbClr val="8A8A8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05767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2026-06-25T08:57:28.5030000Z</dcterms:created>
  <dcterms:modified xsi:type="dcterms:W3CDTF">2026-06-25T08:57:28.5030000Z</dcterms:modified>
</coreProperties>
</file>