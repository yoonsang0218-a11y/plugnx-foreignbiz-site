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93b7a0c5c4138" /><Relationship Type="http://schemas.openxmlformats.org/officeDocument/2006/relationships/extended-properties" Target="/docProps/app.xml" Id="R298a20bad3d3410b" /><Relationship Type="http://schemas.openxmlformats.org/officeDocument/2006/relationships/officeDocument" Target="/ppt/presentation.xml" Id="R9bb3015175f9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127862c1a4ef7"/>
  </p:sldMasterIdLst>
  <p:notesMasterIdLst>
    <p:notesMasterId xmlns:r="http://schemas.openxmlformats.org/officeDocument/2006/relationships" r:id="Rd7227d574ff649cf"/>
  </p:notesMasterIdLst>
  <p:sldIdLst>
    <p:sldId xmlns:r="http://schemas.openxmlformats.org/officeDocument/2006/relationships" id="256" r:id="R66f57e07e6934727"/>
    <p:sldId xmlns:r="http://schemas.openxmlformats.org/officeDocument/2006/relationships" id="257" r:id="R9b195f63516d4bfc"/>
    <p:sldId xmlns:r="http://schemas.openxmlformats.org/officeDocument/2006/relationships" id="258" r:id="R458539804a024242"/>
    <p:sldId xmlns:r="http://schemas.openxmlformats.org/officeDocument/2006/relationships" id="259" r:id="R514c5b9889d24d19"/>
    <p:sldId xmlns:r="http://schemas.openxmlformats.org/officeDocument/2006/relationships" id="260" r:id="Rfe8bd1bb56b14c80"/>
    <p:sldId xmlns:r="http://schemas.openxmlformats.org/officeDocument/2006/relationships" id="261" r:id="R01867625045b473c"/>
    <p:sldId xmlns:r="http://schemas.openxmlformats.org/officeDocument/2006/relationships" id="262" r:id="R801831dc3e6147d8"/>
    <p:sldId xmlns:r="http://schemas.openxmlformats.org/officeDocument/2006/relationships" id="263" r:id="Rb0efc840d50f4a07"/>
    <p:sldId xmlns:r="http://schemas.openxmlformats.org/officeDocument/2006/relationships" id="264" r:id="R3f3d0533ca2a45cf"/>
    <p:sldId xmlns:r="http://schemas.openxmlformats.org/officeDocument/2006/relationships" id="265" r:id="R0b24a2a6b2f94fac"/>
    <p:sldId xmlns:r="http://schemas.openxmlformats.org/officeDocument/2006/relationships" id="266" r:id="R182aa4ab13af45bc"/>
    <p:sldId xmlns:r="http://schemas.openxmlformats.org/officeDocument/2006/relationships" id="267" r:id="R4bcb1c7932ac43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f38fa53f74442" /><Relationship Type="http://schemas.openxmlformats.org/officeDocument/2006/relationships/slideMaster" Target="/ppt/slideMasters/slideMaster1.xml" Id="R182127862c1a4ef7" /><Relationship Type="http://schemas.openxmlformats.org/officeDocument/2006/relationships/notesMaster" Target="/ppt/notesMasters/notesMaster1.xml" Id="Rd7227d574ff649cf" /><Relationship Type="http://schemas.openxmlformats.org/officeDocument/2006/relationships/presProps" Target="/ppt/presProps.xml" Id="Rea890bba45904732" /><Relationship Type="http://schemas.openxmlformats.org/officeDocument/2006/relationships/tableStyles" Target="/ppt/tableStyles.xml" Id="R1307ef303e3a4bfe" /><Relationship Type="http://schemas.openxmlformats.org/officeDocument/2006/relationships/slide" Target="/ppt/slides/slide1.xml" Id="R66f57e07e6934727" /><Relationship Type="http://schemas.openxmlformats.org/officeDocument/2006/relationships/slide" Target="/ppt/slides/slide2.xml" Id="R9b195f63516d4bfc" /><Relationship Type="http://schemas.openxmlformats.org/officeDocument/2006/relationships/slide" Target="/ppt/slides/slide3.xml" Id="R458539804a024242" /><Relationship Type="http://schemas.openxmlformats.org/officeDocument/2006/relationships/slide" Target="/ppt/slides/slide4.xml" Id="R514c5b9889d24d19" /><Relationship Type="http://schemas.openxmlformats.org/officeDocument/2006/relationships/slide" Target="/ppt/slides/slide5.xml" Id="Rfe8bd1bb56b14c80" /><Relationship Type="http://schemas.openxmlformats.org/officeDocument/2006/relationships/slide" Target="/ppt/slides/slide6.xml" Id="R01867625045b473c" /><Relationship Type="http://schemas.openxmlformats.org/officeDocument/2006/relationships/slide" Target="/ppt/slides/slide7.xml" Id="R801831dc3e6147d8" /><Relationship Type="http://schemas.openxmlformats.org/officeDocument/2006/relationships/slide" Target="/ppt/slides/slide8.xml" Id="Rb0efc840d50f4a07" /><Relationship Type="http://schemas.openxmlformats.org/officeDocument/2006/relationships/slide" Target="/ppt/slides/slide9.xml" Id="R3f3d0533ca2a45cf" /><Relationship Type="http://schemas.openxmlformats.org/officeDocument/2006/relationships/slide" Target="/ppt/slides/slide10.xml" Id="R0b24a2a6b2f94fac" /><Relationship Type="http://schemas.openxmlformats.org/officeDocument/2006/relationships/slide" Target="/ppt/slides/slide11.xml" Id="R182aa4ab13af45bc" /><Relationship Type="http://schemas.openxmlformats.org/officeDocument/2006/relationships/slide" Target="/ppt/slides/slide12.xml" Id="R4bcb1c7932ac43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3db99e45b4a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5ec24fdbbe4d52" /><Relationship Type="http://schemas.openxmlformats.org/officeDocument/2006/relationships/notesMaster" Target="/ppt/notesMasters/notesMaster1.xml" Id="R5ec4da62b717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0aaaed22d46f3" /><Relationship Type="http://schemas.openxmlformats.org/officeDocument/2006/relationships/notesMaster" Target="/ppt/notesMasters/notesMaster1.xml" Id="R2c6e1af9a48d47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ba30136a784038" /><Relationship Type="http://schemas.openxmlformats.org/officeDocument/2006/relationships/notesMaster" Target="/ppt/notesMasters/notesMaster1.xml" Id="R06b64150dfe8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21eefcee541a7" /><Relationship Type="http://schemas.openxmlformats.org/officeDocument/2006/relationships/notesMaster" Target="/ppt/notesMasters/notesMaster1.xml" Id="R5420b37d7b8d4d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104a0f433a4d00" /><Relationship Type="http://schemas.openxmlformats.org/officeDocument/2006/relationships/notesMaster" Target="/ppt/notesMasters/notesMaster1.xml" Id="Rd7cebddea0ad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56a37834f04d60" /><Relationship Type="http://schemas.openxmlformats.org/officeDocument/2006/relationships/notesMaster" Target="/ppt/notesMasters/notesMaster1.xml" Id="R090dfbc69599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38848823a4e21" /><Relationship Type="http://schemas.openxmlformats.org/officeDocument/2006/relationships/notesMaster" Target="/ppt/notesMasters/notesMaster1.xml" Id="R1ed613d55bf4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e794d3890d49d7" /><Relationship Type="http://schemas.openxmlformats.org/officeDocument/2006/relationships/notesMaster" Target="/ppt/notesMasters/notesMaster1.xml" Id="Reb92d7dd441e4b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97331d7ae34aef" /><Relationship Type="http://schemas.openxmlformats.org/officeDocument/2006/relationships/notesMaster" Target="/ppt/notesMasters/notesMaster1.xml" Id="Rc873782f406046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edec5a07b141d9" /><Relationship Type="http://schemas.openxmlformats.org/officeDocument/2006/relationships/notesMaster" Target="/ppt/notesMasters/notesMaster1.xml" Id="R495ba548cc9942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c90089fbd54e3b" /><Relationship Type="http://schemas.openxmlformats.org/officeDocument/2006/relationships/notesMaster" Target="/ppt/notesMasters/notesMaster1.xml" Id="R3a0414e7b57742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1c661b97a04755" /><Relationship Type="http://schemas.openxmlformats.org/officeDocument/2006/relationships/notesMaster" Target="/ppt/notesMasters/notesMaster1.xml" Id="R94f4b859e6fc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b85b42cd44e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09cfc1565a462b" /><Relationship Type="http://schemas.openxmlformats.org/officeDocument/2006/relationships/slideLayout" Target="/ppt/slideLayouts/slideLayout1.xml" Id="R21b60e9c553042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b60e9c553042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b4dcd70a542b2" /><Relationship Type="http://schemas.openxmlformats.org/officeDocument/2006/relationships/notesSlide" Target="/ppt/notesSlides/notesSlide1.xml" Id="R67075edb7e2b44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f51fe14764bc0" /><Relationship Type="http://schemas.openxmlformats.org/officeDocument/2006/relationships/notesSlide" Target="/ppt/notesSlides/notesSlide2.xml" Id="R378b8fd7a14e42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106d2752b4abc" /><Relationship Type="http://schemas.openxmlformats.org/officeDocument/2006/relationships/chart" Target="/ppt/slides/charts/chart1.xml" Id="R2fc15f8a8c4b4837" /><Relationship Type="http://schemas.openxmlformats.org/officeDocument/2006/relationships/notesSlide" Target="/ppt/notesSlides/notesSlide3.xml" Id="Rdb8010d8b5fd4b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a8e96976349f9" /><Relationship Type="http://schemas.openxmlformats.org/officeDocument/2006/relationships/notesSlide" Target="/ppt/notesSlides/notesSlide4.xml" Id="R3ea7fe69bd5249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aff757c2a4e54" /><Relationship Type="http://schemas.openxmlformats.org/officeDocument/2006/relationships/notesSlide" Target="/ppt/notesSlides/notesSlide5.xml" Id="R23b2eef2c0ca4b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8aa6e22fb4437" /><Relationship Type="http://schemas.openxmlformats.org/officeDocument/2006/relationships/notesSlide" Target="/ppt/notesSlides/notesSlide6.xml" Id="R4dfdc378f3d4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6d4c814b04d1c" /><Relationship Type="http://schemas.openxmlformats.org/officeDocument/2006/relationships/notesSlide" Target="/ppt/notesSlides/notesSlide7.xml" Id="R7b2d78136d3245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722cdaf654198" /><Relationship Type="http://schemas.openxmlformats.org/officeDocument/2006/relationships/notesSlide" Target="/ppt/notesSlides/notesSlide8.xml" Id="Rdc132ee819c440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89e8ae53c4b86" /><Relationship Type="http://schemas.openxmlformats.org/officeDocument/2006/relationships/notesSlide" Target="/ppt/notesSlides/notesSlide9.xml" Id="Re600130416764c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94cd51a14499d" /><Relationship Type="http://schemas.openxmlformats.org/officeDocument/2006/relationships/notesSlide" Target="/ppt/notesSlides/notesSlide10.xml" Id="Ref53e620a9f543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508add3a74838" /><Relationship Type="http://schemas.openxmlformats.org/officeDocument/2006/relationships/notesSlide" Target="/ppt/notesSlides/notesSlide11.xml" Id="R4f9adb91aad148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de971d3d04da5" /><Relationship Type="http://schemas.openxmlformats.org/officeDocument/2006/relationships/notesSlide" Target="/ppt/notesSlides/notesSlide12.xml" Id="R27b172c1ca1b441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전체 체류외국인</c:v>
          </c:tx>
          <c:spPr>
            <a:ln xmlns:a="http://schemas.openxmlformats.org/drawingml/2006/main" w="28575">
              <a:solidFill>
                <a:srgbClr val="0066CC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0만</c:formatCode>
              <c:ptCount val="5"/>
              <c:pt idx="0">
                <c:v>195.7</c:v>
              </c:pt>
              <c:pt idx="1">
                <c:v>224.6</c:v>
              </c:pt>
              <c:pt idx="2">
                <c:v>250.8</c:v>
              </c:pt>
              <c:pt idx="3">
                <c:v>265.1</c:v>
              </c:pt>
              <c:pt idx="4">
                <c:v>278.3</c:v>
              </c:pt>
            </c:numLit>
          </c:val>
          <c:smooth val="0"/>
        </c:ser>
        <c:ser>
          <c:idx val="1"/>
          <c:order val="1"/>
          <c:tx>
            <c:v>장기 체류외국인</c:v>
          </c:tx>
          <c:spPr>
            <a:ln xmlns:a="http://schemas.openxmlformats.org/drawingml/2006/main" w="19050">
              <a:solidFill>
                <a:srgbClr val="0B0F14"/>
              </a:solidFill>
              <a:prstDash val="solid"/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0만</c:formatCode>
              <c:ptCount val="5"/>
              <c:pt idx="0">
                <c:v>157</c:v>
              </c:pt>
              <c:pt idx="1">
                <c:v>168.9</c:v>
              </c:pt>
              <c:pt idx="2">
                <c:v>188.2</c:v>
              </c:pt>
              <c:pt idx="3">
                <c:v>204.2</c:v>
              </c:pt>
              <c:pt idx="4">
                <c:v>215.9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만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ln xmlns:a="http://schemas.openxmlformats.org/drawingml/2006/main" w="0">
          <a:noFill/>
          <a:prstDash val="solid"/>
        </a:ln>
      </c:spPr>
    </c:plotArea>
    <c:legend>
      <c:legendPos val="b"/>
      <c:overlay val="0"/>
    </c:legend>
    <c:plotVisOnly val="1"/>
  </c:chart>
  <c:spPr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FADEB-E5E2-46F0-BA78-90FD21D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C011F-2425-4429-A134-8CA5DA76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E26C0-1D71-4DFE-8F48-C040B994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971550"/>
            <a:ext cx="3714750" cy="4933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C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7FC3A-C550-4442-9E14-346D7154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0879C-746D-4B8A-B220-4A01CCC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95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VisaDesk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26977-08E7-403B-8322-A7950CF4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C53E0-A047-4E9C-AC56-F183FE53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71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Moneeback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57822-3118-43C1-8888-BABC001C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358A4-2746-45BB-AC85-3C892134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48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ForeignID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AAAB-B068-4D4C-AA5C-D6D34F29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71700"/>
            <a:ext cx="95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5037B-4992-4B8A-BEA7-C1B84AF0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48050"/>
            <a:ext cx="95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6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40620-5B33-406D-B460-F83E2DF5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PLUGnx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F45C2-BE98-4E71-AD47-31BDA90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19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외국인 시장 분석 및 추진배경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67AAF-D73E-4381-86F7-CCAD98BB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278만 체류외국인 시대, 채용 이후의 준법·환급·본인확인 데이터를 하나의 신뢰 파이프라인으로 잡는 시장 진입 논리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CEAAC-82FA-46A7-9539-51CF28D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B12AE-F44D-4D38-B76F-53B3101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9266C-B841-456E-8EEC-6C125EA2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CAB4B-FAEA-489D-8AFF-344E5C20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시장분석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FB646-E4B3-4CFA-8670-8A083AF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958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1CB56-1D76-42BF-98BB-BC1A2C77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추진배경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1AA80-BDD7-4DB3-BE38-D1359BBA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Source: PlugNX business-case PDF, PROJECT.md SSOT, MOJ/MOEL/MODS public data</a:t>
            </a:r>
          </a:p>
        </p:txBody>
      </p:sp>
    </p:spTree>
    <p:extLst>
      <p:ext uri="{BB962C8B-B14F-4D97-AF65-F5344CB8AC3E}">
        <p14:creationId xmlns:p14="http://schemas.microsoft.com/office/powerpoint/2010/main" val="1588400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264AA0-90A9-4647-BAB0-2E5BAA64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3977D-770D-4E94-B784-21DEF671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결론: 큰 시장, 지금의 타이밍,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공백은 ‘신뢰 데이터’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12EC9-B707-4C7E-BF59-23A1E2E3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외국인 서비스의 본질은 단일 앱 경쟁이 아니라 기업의 준법 데이터와 근로자의 동의 기반 금융 신호를 연결하는 운영 인프라 선점입니다.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F2A16-4DC9-4251-B860-C0FB66E1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3E163-0AD5-4918-B747-E4883A8B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278만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B7E2B-92DF-4033-9C4F-0983992D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체류외국인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C034-72BB-43CF-870E-8940DA0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2025년 말 2,783,247명, 전체 인구 대비 5.44%.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35FA4-6543-44A0-8E58-FF5960C0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FB26B-6BC4-48BB-B833-9455524F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216만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CDA93-E3FE-4807-AD60-728A3253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장기체류 SAM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778AA-A88C-40A1-B62D-D606E46A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B2C 잠재 고객 풀. 환급·임금·금융 접근 페인이 존재.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21BA1-F428-4BDF-8688-DAB8563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C5C97-76E9-494D-B9C5-4D9B01C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49만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A492F-C5B3-4CEC-AA4D-1AC2212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B2B wedge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B32C3-82A1-4B3F-93DA-414FECB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E계열 취업비자 중심의 기업 준법관리 진입 시장.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FE245-ED36-4E51-89BA-628872FB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D5B7C-1C1D-4A72-8E0F-017603E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F8B55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F8B55"/>
                </a:solidFill>
                <a:latin typeface="Malgun Gothic"/>
                <a:ea typeface="Malgun Gothic"/>
                <a:cs typeface="Malgun Gothic"/>
              </a:rPr>
              <a:t>8주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91D0E-6A59-4659-8E65-45201F52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PoC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7E678-7D78-4331-A32B-76968D0A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3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15사·3,300만원 목표로 지불의사와 전환율 검증.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BD8CA-5511-401D-857E-AF8A06A7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59880-AEF4-4604-944A-0EE92CC3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따라서 첫 제품은 ‘외국인 채용’이 아니라, 채용 이후 케이스 파일을 축적하는 VisaDesk여야 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9CF53-8B68-421C-ADD6-60343985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PlugNX business-case PDF p.0, p.29; PROJECT.md SSOT; 법무부 체류외국인 통계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0B8F0-0A9B-45AD-8E52-2B33D832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9267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6352D2-E3A8-4FBC-998A-2463201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59CAA-F21C-472A-A654-93FCA425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시장 규모: 체류외국인 278만,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장기체류 216만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9D082-147B-4A0E-BC02-D4844DF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2025년 말 278.3만(+5.0%), 장기체류 215.9만. 이미 반복 접점이 있는 생활·노동 시장입니다.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2362200"/>
          <a:ext xmlns:a="http://schemas.openxmlformats.org/drawingml/2006/main" cx="6667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c15f8a8c4b48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6A7C1-307D-4703-A05A-8BE2A145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429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945E7-5815-4964-9AEE-30478D46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F46D3-E6FF-4EA6-8AA1-D4DDE4F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5.44%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5865A-4F55-49BC-96E2-40722DB8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2025년 전체 인구 대비 체류외국인 비율. 이미 ‘틈새’가 아니라 국민 20명 중 1명 규모입니다.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669CA-3FFC-4FD0-87C3-D7CEEC0E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3429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F4E90-C9AA-4C87-A375-0CA2B6BF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BBB61-F502-499F-BFD8-ABFAC171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862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215.9만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58E01-2B1E-42FD-A9F8-EEEEDE62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장기체류자는 재직·임금·보험·환급·금융 접점이 반복되는 B2C 서비스 기반입니다.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B345C-9264-4135-9539-AB89E4DB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법무부 ‘체류외국인’ 통계(2025년 말 기준)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EDE26-1741-4A6C-976D-CE845A0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3985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3FE75-E60E-4097-9C1F-DAAACBA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73E90-E379-4A00-9D64-9B39F0BE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추진배경 1: 생산연령 감소가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외국인 수요를 강제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5D626-0BF3-4E5C-83D5-D0AA8116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내국인 생산연령인구는 줄고, 고령인구는 늘어납니다. 외국인 시장은 단기 유행이 아니라 노동공급·지역경제·돌봄 수요가 함께 만드는 구조 변화입니다.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C5376-98D1-487E-ACCA-0BE8D67A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C80A1-D3EE-400D-809A-27F8E51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-332만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61BC3-32F5-413B-AED0-E68C58B4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생산연령인구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B66CC-6BEE-4F8E-B6E0-50147F2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통계청은 2022년부터 향후 10년간 15~64세 인구가 332만 명 감소할 것으로 전망.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A617E-6B0F-4DD9-A2B9-6BCE6F7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384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228A9-741E-4EF1-AF23-0BAE5758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D9822B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D9822B"/>
                </a:solidFill>
                <a:latin typeface="Malgun Gothic"/>
                <a:ea typeface="Malgun Gothic"/>
                <a:cs typeface="Malgun Gothic"/>
              </a:rPr>
              <a:t>+485만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AC0E3-77B8-4CB3-BE3E-61F45F0A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099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고령인구 증가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D5398-2121-4744-B28D-DEB2A4CC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909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같은 기간 고령인구는 485만 명 증가. 돌봄·서비스·지역 산업의 인력 공백이 커집니다.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4860F-07E3-4D89-8AC4-B984D237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62782-40CA-4706-9F30-2F28C4A1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연 -50만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A6B88-A9FF-4737-AEBF-0DF72C1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99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2030년대 감소 속도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A08CA-6F0E-4E53-868E-A2508C1A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2030년대 생산연령인구는 연평균 약 50만 명 감소 전망.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9A702-12BC-4840-96C4-CFF3C16F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9B7CA-7294-491B-823E-DA74B9C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외국인 유입·정착·관리 인프라는 선택지가 아니라 생산가능인구 감소의 대응 장치입니다.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2845A-497D-41B7-A477-5010A9BB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국가데이터처/통계청 장래인구추계 2022~2072년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2D34A-FE63-4E6B-8903-D9C68DC2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2762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305345-13DB-4A9C-ADF1-A4B582EA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61CF-8B94-4EEB-AAB5-27D15194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추진배경 2: 정책은 유입보다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관리·신뢰로 이동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64C64-C005-4840-8115-9352D5D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법무부 2030 이민정책 미래전략과 고용노동부 2026년 외국인력 계획은 공통적으로 임금·권익·지역 수급·숙련전환을 강조합니다. 이는 준법관리와 신뢰 데이터의 ROI를 키웁니다.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D105E-0734-4CDB-B799-312B474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333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9EA6E-0916-4CF0-AA26-4C2D7A0E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4FEDB-C993-449E-BA57-DA6D2697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2030 이민정책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E5ADC-E56E-42A2-BF00-A7830B94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적정 임금요건, 전문기술인력, 지역활력 특례, 농어업 숙련 비자 등 관리·정착형 정책 신호.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4F013-F2BB-404E-B166-5C3B5DE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9850"/>
            <a:ext cx="3333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4298B-B4CE-4CAA-99C3-121BA6B6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9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37F78-7D1A-4D75-9C4B-B81AD4F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38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E-9 13만→8만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2B554-51CC-499C-9DD3-9FE6DEE8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194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2026년 E-9는 전년 대비 5만 명 감소. 신규 유입보다 재직·전환·정착 관리가 중요해집니다.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CF75B-E4D7-49CB-9CA4-9011429B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333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B4182-B89A-45FC-9292-7DFF096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77056-E59A-48B3-822F-A5A39B5B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E-8 9.6만→10.9만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C6E47-7134-43F3-B914-03BC5BAA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계절근로는 증가. 업종·지역별 수급 조정이 정교해지며 사업장 준법 요구가 커집니다.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4762F-F70B-4850-AD94-61719EB5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C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07D80-A7AE-4789-9483-F2B22546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해석: 정책 변동이 잦을수록 기업은 ‘신청 대행’보다 앞단의 리스크 감지·증빙 축적·전문가 라우팅을 원합니다.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CCBDC-B681-4A9B-B44F-FF926777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법무부 2030 이민정책 미래전략 발표(2026.03.03); 고용노동부 2026년 비전문 외국인력 도입계획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169A6-2810-4CAF-AFF0-E2B118E0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7762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14E4A-754D-463F-B146-7E56236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8ED92-7F01-4175-9295-A315733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고객 페인: 기업과 근로자 모두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‘채용 이후’에서 막힌다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FB1F9-53AC-4AC8-B317-454EF0FA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외국인 시장의 가장 큰 공백은 채용 전 매칭이 아니라, 채용 이후 발생하는 체류·임금·보험·신고·환급·금융 접점이 분절되어 있다는 점입니다.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8AD97-217B-4CA5-86D8-B751E28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51625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B9FE-30EE-4C29-966A-F44E9CC1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B2B 기업 페인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50940-F065-41A2-96EE-1DDE1289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4362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체류만료 · 직무/근무처 · 보험 · 신고기한 · 임금요건 · 서류 증빙이 흩어져 사고 전 리스크를 보기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AC275-5D80-4D7A-B6B9-800F7C4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결과: 과태료·인력공백·전문가 비용·감사 대응 비용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876AC-30F9-4997-88E5-5FD77ACC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1625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A1C05-87A0-443B-8C70-616C39E2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B2C 근로자 페인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DED32-42D2-4B30-8836-D578F00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362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환급 가능성, 급여 적정성, 보험·연금, 금융 접근을 언어와 절차 장벽 때문에 사후에야 찾습니다.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24AAA-27BD-4AB7-B78F-F8999AAC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672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결과: 놓친 돈·낮은 신용 접근·비공식 중개 의존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5E2BB-901C-45CB-B5B5-43D1A15B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8CC5E-C526-4955-A3F3-DDF82F4C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한쪽 문제만 풀면 앱이고, 양쪽 기록을 연결하면 데이터 인프라가 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2D9B8-7452-4ABC-9891-A58025F0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PlugNX business-case PDF p.1~p.8, p.53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5849C-184B-4DBB-B666-AD967BD6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95959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EDE1DE-63B5-46E0-93B4-55DD4181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C904D-28F4-4D44-BD75-54AEBB4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시장 공백: 단일 기능보다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양면 신뢰 레이어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52C49-F8F1-4898-9AFC-817E4C14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기존 HR, 행정사 수기, B2C 금융앱은 각자 한 기능을 해결합니다. PlugNX의 공백은 기업 준법 데이터와 근로자 동의 데이터를 동시에 묶는 곳입니다.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8DC24-F3E8-40D8-BAF9-046BFF10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723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1BC9F-4E3C-4DC2-895D-552D3A76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1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B5182-825C-40EA-AC83-0F466844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B2C 환급·금융 접점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CDBA4-AC35-4EA6-8AAA-87072D75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B2B 고용·체류 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9EBA-BE4C-441C-8EFE-298A755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43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9D025-6E78-4B9D-BA38-C4423F8F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695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행정사/수기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715B8-3308-4C8B-B996-54C5F20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54DDF-53AF-47AB-88D4-2D3FE1F9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43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일반 HR/채용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845F8-EF4E-48AA-91EC-CE761D5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22C27-F230-4FDF-93BE-190B24B4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B2C 금융앱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3D2DB-DD69-4EB3-BFCF-E2D74901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9A64A-0CB0-4A8E-BBFE-EB65424D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Trust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89F96-EC0A-4DF5-B3CA-472AC73E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27146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44164-6CA4-4A1F-878E-E40A1857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5E4DF-2EDD-49DC-B294-D0D71F3A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Right-to-win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469D8-5665-444C-AD24-1C1EE102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2257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B2B 데이터 입구, 환급 웨지, ForeignID 신뢰레벨을 한 흐름으로 묶습니다.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251D2-253B-4FB9-939B-4FDA2E91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PlugNX business-case PDF p.6~p.8, p.27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FC069-A724-40CF-A72A-F59199FB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6526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19435-64C1-420B-8983-DF472F0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5C5A7-F19A-4A50-BDCD-DD7FF510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초기 시장: 외국인 5~50명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중소·중견 사업장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46644-290D-47F0-BE42-42970A0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초기 ICP는 외국인 고용 의존도는 높지만 HRIS·법무·노무·컴플라이언스 전담조직이 약한 사업장입니다. 사고 1건 회피가 월 구독료를 설명할 수 있어야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F04DA-ABA4-4653-B4E2-F1CFD36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238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17868-D741-4361-9B85-CC7E171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제조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C8D85-035E-4F59-ADEC-5F1E6B2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산단·비수도권 제조업체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D5821-3FD9-46BE-9581-C5A69304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E-9/E-7 고용, 체류만료·근무처·보험·임금요건 리스크가 반복됩니다.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70265-ACA3-4C55-A981-7F8F6606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33650"/>
            <a:ext cx="3238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153D2-0747-4342-8A13-A82A74BB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81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요양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153E8-E410-4A9E-A91C-D2921126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09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요양·간병·돌봄 사업장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A5FD8-2E16-40FE-B07C-A37E9D30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인력난과 고령화 압력이 크고, 비자·직무 적합성·근로조건 관리가 중요합니다.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5886E-2C09-45F3-BAB3-7D95DC2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238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3EAB0-26F4-404A-B2B8-30DFC9D8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0A882-9FC1-4AF9-8FED-4C11E0A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외식·숙박·지역 서비스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CECB5-7FF0-4038-A2AD-D837EF38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인력 변동이 잦고 다국어 안내·서류·신고 체계가 약한 곳부터 비용이 발생합니다.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3193A-6A85-49F5-A55A-4BD11B6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235D6-8353-4E78-98E9-E1956D9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Go-to-market은 산단·협회 세미나 → 7일 무료 리스크 리포트 → 8주 PoC 전환으로 설계합니다.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DFDD2-3B94-470D-A7C0-6E626C1F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PlugNX business-case PDF p.4~p.5, p.27, p.52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52D2A-F261-4199-8F5E-BE142F19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2298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EAF47-ED25-40C5-9F31-EBDAE3F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49DA3-159C-48F6-A888-4621A4CF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진입 논리: Compliance → Refund → Credit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90D29-B629-42B6-8FEA-0FD14B9B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세 제품을 따로 파는 것이 아니라, 기업의 준법 케이스 파일을 근로자 환급·본인확인·파트너 금융 신호로 전환하는 하나의 데이터 파이프라인으로 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6D14B-C5C5-4CA0-8887-001F6E43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CEC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7EFF6-1677-4710-B04D-D38CEE61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8CED1-3B9F-415B-95C6-B50F9573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VisaDesk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6E76F-3CF0-4880-9B01-DA31D0D0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기업 준법관리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근로자 등록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Evidence Vault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A1FF1-35EB-4784-8651-197CA093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4381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03BFD-AE70-4863-9DC6-8F39BDC9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03D86-DECE-4132-88C6-C7489B2D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8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8B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A6298-98F5-4A0B-98BC-E41E33BF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Moneeback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CB7F5-2E46-4520-90A2-C69EE038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환급·급여 확인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근로자 동의 유입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B2C 전환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34F44-52B6-4089-8AED-00ED065D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62350"/>
            <a:ext cx="4381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D4A59-727C-43C4-90EC-E7B09E8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644E5-5211-4A8A-8AAC-4EF2365D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7C717-43FB-45AB-AB4A-F64366A1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ForeignID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16D4A-102A-485C-958C-61A8D47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386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여권·ARC·계좌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신뢰 레벨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파트너 금융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B3000-A848-41B1-BA38-865B7B12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382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6FEF1-FF73-4E7E-B934-2C937CDE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Flywheel: 기업 등록 → 근로자 Moneeback 초대 → 환급·급여 만족 → 근속률·B2B 유지 강화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0C2E5-C589-4A69-A7D0-58722031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PlugNX business-case PDF p.7~p.8, p.27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8BEE2-D374-495B-971D-85C9BC0D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09645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6AB18-4E59-4B51-A415-3C134C72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1DB66-51D5-429B-AC02-8D07E51D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90일 로드맵: 지불의사·전환율·규제경계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C2E03-CE4D-4956-8280-F082D388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코어3를 한 번에 제품화하지 않고, VisaDesk wedge에서 시작해 Compliance upsell과 ForeignID 신뢰 레벨을 순차적으로 검증합니다.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1E9DF-3F13-4CF2-9412-CDF64A97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1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3C5C7-D329-4195-8C53-5F509196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DDBE0-114B-43F8-8932-939FDEC6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DAY 0-30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1EEFB-73D6-4925-B980-631F583C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파일럿 15사 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7F47C-89ED-4DB9-9B2A-1DA0F482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산단·요양협회 세미나 5건, 무료 PoC 진단 캠페인, 자가진단→리드→영업 파이프 구축.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085BE-0136-452E-BF45-49ED0C76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03630-B1CB-4293-B670-099AA822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DAY 30-60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AF491-6824-43EC-93E0-5AD45877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전문가·결제 가동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D0594-D50F-4CD8-A6B9-FF7878ED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행정사·노무사 네트워크 50명 확보, 알림·구독 결제·전문가 티켓 운영 검증.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F38CC-00BD-4F9E-9856-ED043D49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19FA1-6A4C-4466-A03B-3D219B61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DAY 60-90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DF0A4-04F4-4C73-B90C-F5BE9E4A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K-Trust 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CABC8-B812-40DC-AC2F-F2F13F81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모의점검 컨설팅과 A등급 액션 추천을 고도화해 Compliance 플랜 업셀 검증.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95BD1-6EAB-4A01-B782-B00831C0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89D73-52F2-47DA-8DB0-E0D8D16F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8E6C0-8F54-4624-B3AC-432370F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Go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5F5A0-BCBC-4D39-804C-A8722DF3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8주 PoC 15사, 전환 30%, B2C 전환 60%+.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B84C7-1558-43D1-8996-184A4FDD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41296-F9E9-449D-80AF-BBE4D874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B1F41-A732-4D86-8E77-56C1803B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72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No-go 신호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D58E7-0924-49EB-986A-4C63497F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531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유료 전환이 낮거나 입력 비용이 구독가치를 초과.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F49B4-10D4-4CD0-A3D4-5C53BBAB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DC178-8CE4-4F17-AE70-99BD424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8BA20-2F33-4B48-BE57-76C3E48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72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규제 경계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08ECF-3DEE-4064-A60D-3684C4A0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531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신청 대행은 전문가, 금융 신호는 인가 파트너 중심.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E8658-E87F-451B-8B73-EF2A8ED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PlugNX business-case PDF p.28, p.52~p.54; PROJECT.md SSOT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C91F0-7F56-4BEB-8972-7E88D0B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3420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9FB3C-8563-466A-9108-7D0CC5F1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46699-C9EE-408D-9D69-C206B469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의사결정 포인트: 표준과 기록을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지금 선점해야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E736D-7706-4760-A113-F6887D9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규칙이 확정된 뒤 들어가면 표준 설계에 참여하기 어렵고, 과거의 준법·고용·환급 기록은 나중에 사서 채울 수 없습니다.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5950-C3C9-4B34-9448-2DA203E9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0D132-A52F-4E17-933E-C1291B45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2D45C-D3D8-42D4-9E97-6BCC032E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왜 큰가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0ECF4-8538-4352-8392-FD6BF065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278.3만 체류외국인과 215.9만 장기체류자. 이미 반복 접점이 있는 생활·노동 시장입니다.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5CBA8-471A-48CF-84E8-EDE23AD2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F060D-AF6E-4D69-8535-E578346D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D143E-B427-4F77-A5D7-1C97798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0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왜 지금인가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0636E-7BA8-45AC-B5EB-5A3BF036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8135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인구구조와 2030 이민정책이 관리·정착·권익보호 중심으로 재정렬되는 골든윈도입니다.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0CA39-8765-4674-8165-7118D3AD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78DB3-1962-47BD-A34F-2E2A166C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B52A8-3C2A-40EA-A557-40059B38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왜 PlugNX인가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5D18D-E798-4E95-818D-8C224966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VisaDesk의 B2B 입구, Moneeback의 환급 웨지, ForeignID의 본인확인이 한 데이터 흐름입니다.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E2CDD-E30C-4613-A638-D92A8E05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3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따라서 첫 질문은 “외국인 서비스를 할까?”가 아니라 “외국인 신뢰 데이터의 입구를 누가 먼저 표준화할까?”입니다.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31705-E876-4F48-9077-8880E0D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PlugNX business-case PDF p.1~p.4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A0FBA-72EF-4031-8EC5-B928D303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5106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6C273-875A-447F-A785-E2A1E66D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PlugNX 외국인 신사업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6A1E2-8B65-4D7D-9BDA-F9DBAA0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출처 및 사용 주의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32A9F-E3A2-45F7-B588-0744EC6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본 자료는 시장 검토와 내부 의사결정 보조용입니다. 비자·노무·세무·금융·개인정보 판단은 법적 효력이 없는 참고 정보이며, 사업화 전 최신 법령 및 전문가 검증이 필요합니다.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9A132-8AB2-45C0-A825-70D2108F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089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61D9C-D31F-4C61-BF03-01112FB0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원문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FD794-5636-4A4D-96CA-330D596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24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PlugNX × Moneeback ‘외국인 신사업 — 목적 및 타당성’ business-case-9fk2x7.pdf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D998E-B8D3-414F-9318-B5B65CD4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E6741-FF86-4299-99E8-8331621B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SSOT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9A38E-2811-46B5-9945-435B377B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813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PROJECT.md: PlugNX 브랜딩, TAM/SAM, PoC/ARR 목표, 정책 지도, 공통 원칙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8ED8A-84CD-4B7D-88F3-C26D595F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CE8C4-3941-4AFB-B3EA-354401F4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법무부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54B4A-2F94-4EE4-AB67-08D5290A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385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체류외국인 통계: 2025년 말 2,783,247명, 장기체류 2,159,052명, 인구 대비 5.44%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E7B80-D7FA-4B76-A3DE-0A83BE7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9588D-165E-4462-A67D-A541642D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법무부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D88E3-91D4-48C1-8B60-AFF362A5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957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2030 이민정책 미래전략 발표(2026.03.03): 임금요건·전문기술인력·지역활력·숙련 비자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8E48F-165F-4B7E-98E2-8EE80790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15DDE-F249-4DD6-8FE0-1CC78D72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국가데이터처/통계청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B5784-B488-4AA9-A396-D25C4D0A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장래인구추계 2022~2072년: 생산연령인구 감소, 고령인구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759B9-6EAA-4BA0-A2B4-F41EF0E5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5A00B-80DA-4EEE-A813-025D67B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0F14"/>
                </a:solidFill>
                <a:latin typeface="Malgun Gothic"/>
                <a:ea typeface="Malgun Gothic"/>
                <a:cs typeface="Malgun Gothic"/>
              </a:rPr>
              <a:t>고용노동부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50E8B-D875-4601-AE48-D42B6995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10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2026년 비전문 외국인력 도입계획: 총 19.1만, E-9 8만, E-8 10.9만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DC723-1276-463C-9F21-E831E908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외부 수치·정책은 2026.06.25 작성 시점 확인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8F273-CD33-40DF-B20C-4DF1D41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4077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2026-06-25T08:37:21.9880000Z</dcterms:created>
  <dcterms:modified xsi:type="dcterms:W3CDTF">2026-06-25T08:37:21.9880000Z</dcterms:modified>
</coreProperties>
</file>