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외국인 신사업 · 추진배경/시장분석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맑은 고딕"/>
              </a:rPr>
              <a:t>왜 지금 — 경기가 아니라 ‘구조’가 만든 수요, 3개의 추진력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Source: 출처: 법무부 「’25.12 출입국·외국인정책 통계월보」 · 법무부 「2030 이민정책 미래전략」(’26.3) · 중소기업중앙회 「2025 외국인력 고용 종합애로 실태조사」(1,223사) · 고용노동부 E-9 도입쿼터. 비자·정책 수치는 자주 개정되는 참고 정보.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맑은 고딕"/>
              </a:rPr>
              <a:t>ⓒ 2026 PlugNX 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맑은 고딕"/>
              </a:rPr>
              <a:t>정책 기조도 「양적 확대」→「수급 안정+관리·신뢰 강화」로 전환 (정책 골든타임)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2278380"/>
            <a:ext cx="502920" cy="502920"/>
          </a:xfrm>
          <a:prstGeom prst="ellipse">
            <a:avLst/>
          </a:prstGeom>
          <a:solidFill>
            <a:srgbClr val="142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783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1874519"/>
            <a:ext cx="1554480" cy="112775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874519"/>
            <a:ext cx="1554480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[01 인구 절벽 · 일할 사람이 사라진다]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59" y="1874519"/>
            <a:ext cx="8899855" cy="1310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2030년까지 생산연령인구 약 −313만 명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산업계 최소 112만 부족(법무부 2030 이민정책 미래전략)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외국인력은 ‘선택’이 아니라 ‘필수 인프라’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771899"/>
            <a:ext cx="502920" cy="502920"/>
          </a:xfrm>
          <a:prstGeom prst="ellipse">
            <a:avLst/>
          </a:prstGeom>
          <a:solidFill>
            <a:srgbClr val="142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7189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368040"/>
            <a:ext cx="1554480" cy="112775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368040"/>
            <a:ext cx="1554480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[02 구조적 인력난 · “사람이 없어서” 쓴다]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59" y="3368040"/>
            <a:ext cx="8899855" cy="1310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내국인 미고용 사유 92.9% = ‘내국인 취업 기피’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고용 사유 82.6% = ‘내국인 구인난’ (중기중앙회 2025)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인건비 절감(13.4%) 아닌, 경기와 무관한 구조 수요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5265419"/>
            <a:ext cx="502920" cy="502920"/>
          </a:xfrm>
          <a:prstGeom prst="ellipse">
            <a:avLst/>
          </a:prstGeom>
          <a:solidFill>
            <a:srgbClr val="142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26541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4861559"/>
            <a:ext cx="1554480" cy="112775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861559"/>
            <a:ext cx="1554480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[03 정주화·고숙련화 · 노동력 → 소비·금융 고객]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59" y="4861559"/>
            <a:ext cx="8899855" cy="1310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유학 30.9만(+17.1%, 증가폭 1위)·영주 22.1만(+8.9%)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결혼이민 18.8만(+3.7%) — 단기 순환 → 정주·반복 수요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정책: E-9 13만→8만(−38.5%), 존량(재직·전환·정착) 관리로 무게 이동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맑은 고딕"/>
              </a:rPr>
              <a:t>외국인 신사업 · 추진배경/시장분석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맑은 고딕"/>
              </a:rPr>
              <a:t>시장 규모 — 278만이 B2C 216만(사람)·B2B 49만(사업장) 두 시장으로 분기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주: 취업자격 59.4만(광의, H-2·C-4 포함)과 B2B TAM 49만(E계열)은 정의가 다른 별개 수치. 유학 30.9만(+17.1%)·영주 22.1만(+8.9%)은 정주·금융 신규 고객층.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Source: 출처: 법무부 「’25.12 출입국·외국인정책 통계월보」 · 장기체류 216.06만 분해(등록 160.66만+거소 55.39만, ’25.11) · E-9 약 30.2만(시사저널). SAM/SOM 전환 가정은 사업기획서 가정값.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맑은 고딕"/>
              </a:rPr>
              <a:t>ⓒ 2026 PlugNX 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맑은 고딕"/>
              </a:rPr>
              <a:t>B2B의 49만은 ‘기업 수’가 아니라 E계열 취업 외국인 ‘근로자 풀’ — 사업장(社) vs 사람(名)으로 분리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6756" y="1783080"/>
            <a:ext cx="5119450" cy="1432559"/>
          </a:xfrm>
          <a:prstGeom prst="rect">
            <a:avLst/>
          </a:prstGeom>
          <a:solidFill>
            <a:srgbClr val="0F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196" y="1783080"/>
            <a:ext cx="4936570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TAM · 전체 체류외국인 (’25.12)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278만 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2924" y="1783080"/>
            <a:ext cx="4567290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전년比 +5.0% · 깔때기 진입 최상단 · ’27~’28 300만 돌파 추정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82910" y="3307079"/>
            <a:ext cx="3767142" cy="143255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74350" y="3307079"/>
            <a:ext cx="3584262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SAM · 장기체류 잠재고객 (’25.11)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216만 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2924" y="3307079"/>
            <a:ext cx="4567290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B2C TAM(환급·금융·관리) = 등록 160.66만 + 거소신고 외국국적동포 55.39만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9064" y="4831080"/>
            <a:ext cx="2414835" cy="143255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0504" y="4831080"/>
            <a:ext cx="2231955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B2B wedge · E계열 취업 풀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49만 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2924" y="4831080"/>
            <a:ext cx="4567290" cy="1432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맑은 고딕"/>
              </a:rPr>
              <a:t>B2B TAM(기업 고용·비자 관리) = E-1~E-10 / 그중 E-9 약 30.2만(광·제조 80%+)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