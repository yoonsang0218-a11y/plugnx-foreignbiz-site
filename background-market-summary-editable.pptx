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2c0051be54486" /><Relationship Type="http://schemas.openxmlformats.org/officeDocument/2006/relationships/extended-properties" Target="/docProps/app.xml" Id="R8ecba6e813d24e84" /><Relationship Type="http://schemas.openxmlformats.org/officeDocument/2006/relationships/officeDocument" Target="/ppt/presentation.xml" Id="R17e59260f45c4f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a1fabf8317484e"/>
  </p:sldMasterIdLst>
  <p:notesMasterIdLst>
    <p:notesMasterId xmlns:r="http://schemas.openxmlformats.org/officeDocument/2006/relationships" r:id="Rb7e7730ab3964f83"/>
  </p:notesMasterIdLst>
  <p:sldIdLst>
    <p:sldId xmlns:r="http://schemas.openxmlformats.org/officeDocument/2006/relationships" id="256" r:id="R94ad58b93c084d26"/>
    <p:sldId xmlns:r="http://schemas.openxmlformats.org/officeDocument/2006/relationships" id="257" r:id="R8715ad80707e401b"/>
    <p:sldId xmlns:r="http://schemas.openxmlformats.org/officeDocument/2006/relationships" id="258" r:id="Rdb2e686d36b54fec"/>
  </p:sldIdLst>
  <p:sldSz cx="8191500" cy="11582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ec2df64d04936" /><Relationship Type="http://schemas.openxmlformats.org/officeDocument/2006/relationships/slideMaster" Target="/ppt/slideMasters/slideMaster1.xml" Id="Rbea1fabf8317484e" /><Relationship Type="http://schemas.openxmlformats.org/officeDocument/2006/relationships/notesMaster" Target="/ppt/notesMasters/notesMaster1.xml" Id="Rb7e7730ab3964f83" /><Relationship Type="http://schemas.openxmlformats.org/officeDocument/2006/relationships/presProps" Target="/ppt/presProps.xml" Id="R18b3ff62d4b24602" /><Relationship Type="http://schemas.openxmlformats.org/officeDocument/2006/relationships/tableStyles" Target="/ppt/tableStyles.xml" Id="Rd4838ae5280a4d39" /><Relationship Type="http://schemas.openxmlformats.org/officeDocument/2006/relationships/slide" Target="/ppt/slides/slide1.xml" Id="R94ad58b93c084d26" /><Relationship Type="http://schemas.openxmlformats.org/officeDocument/2006/relationships/slide" Target="/ppt/slides/slide2.xml" Id="R8715ad80707e401b" /><Relationship Type="http://schemas.openxmlformats.org/officeDocument/2006/relationships/slide" Target="/ppt/slides/slide3.xml" Id="Rdb2e686d36b5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a3bc69d50344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a962e7c1e14870" /><Relationship Type="http://schemas.openxmlformats.org/officeDocument/2006/relationships/notesMaster" Target="/ppt/notesMasters/notesMaster1.xml" Id="R339a670f343e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276b1831d4dd5" /><Relationship Type="http://schemas.openxmlformats.org/officeDocument/2006/relationships/notesMaster" Target="/ppt/notesMasters/notesMaster1.xml" Id="R9aa4edc05d8944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dae026ce2d402a" /><Relationship Type="http://schemas.openxmlformats.org/officeDocument/2006/relationships/notesMaster" Target="/ppt/notesMasters/notesMaster1.xml" Id="Rfdc28505e17140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cef42cc0b44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d3310fd714376" /><Relationship Type="http://schemas.openxmlformats.org/officeDocument/2006/relationships/slideLayout" Target="/ppt/slideLayouts/slideLayout1.xml" Id="Rb04c764f9a19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c764f9a19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05a803dbd4d2b" /><Relationship Type="http://schemas.openxmlformats.org/officeDocument/2006/relationships/notesSlide" Target="/ppt/notesSlides/notesSlide1.xml" Id="Re97005f6f907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59735d8a344be" /><Relationship Type="http://schemas.openxmlformats.org/officeDocument/2006/relationships/notesSlide" Target="/ppt/notesSlides/notesSlide2.xml" Id="Re05b0b6f33b9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8f2b732144daf" /><Relationship Type="http://schemas.openxmlformats.org/officeDocument/2006/relationships/notesSlide" Target="/ppt/notesSlides/notesSlide3.xml" Id="R88dbc835867d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38C98C-9206-45C8-942D-FED7C16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1 / 3 · 추진배경</a:t>
            </a:r>
          </a:p>
        </p:txBody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A3D02C9-DCC8-4176-9ACC-268D7DD2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6CC"/>
                </a:solidFill>
              </a:defRPr>
            </a:pPr>
            <a:r>
              <a:rPr sz="938" b="1">
                <a:solidFill>
                  <a:srgbClr val="0066CC"/>
                </a:solidFill>
              </a:rPr>
              <a:t>WHY NOW · 왜 지금인가</a:t>
            </a:r>
          </a:p>
        </p:txBody>
      </p:sp>
      <p:sp>
        <p:nvSpPr>
          <p:cNvPr id="3" name="title-112-0">
            <a:extLst xmlns:a="http://schemas.openxmlformats.org/drawingml/2006/main">
              <a:ext uri="{FF2B5EF4-FFF2-40B4-BE49-F238E27FC236}">
                <a16:creationId xmlns:a16="http://schemas.microsoft.com/office/drawing/2014/main" id="{6FCD4024-6B83-4969-B236-28EDFCAD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D1F"/>
                </a:solidFill>
              </a:defRPr>
            </a:pPr>
            <a:r>
              <a:rPr sz="2475" b="1">
                <a:solidFill>
                  <a:srgbClr val="1D1D1F"/>
                </a:solidFill>
              </a:rPr>
              <a:t>외국인 </a:t>
            </a:r>
          </a:p>
        </p:txBody>
      </p:sp>
      <p:sp>
        <p:nvSpPr>
          <p:cNvPr id="4" name="title-112-1">
            <a:extLst xmlns:a="http://schemas.openxmlformats.org/drawingml/2006/main">
              <a:ext uri="{FF2B5EF4-FFF2-40B4-BE49-F238E27FC236}">
                <a16:creationId xmlns:a16="http://schemas.microsoft.com/office/drawing/2014/main" id="{2DE6AA49-7170-45A4-B5DE-C2CBF858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668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66CC"/>
                </a:solidFill>
              </a:defRPr>
            </a:pPr>
            <a:r>
              <a:rPr sz="2475" b="1">
                <a:solidFill>
                  <a:srgbClr val="0066CC"/>
                </a:solidFill>
              </a:rPr>
              <a:t>278만 시대,</a:t>
            </a:r>
          </a:p>
        </p:txBody>
      </p:sp>
      <p:sp>
        <p:nvSpPr>
          <p:cNvPr id="5" name="title-150-0">
            <a:extLst xmlns:a="http://schemas.openxmlformats.org/drawingml/2006/main">
              <a:ext uri="{FF2B5EF4-FFF2-40B4-BE49-F238E27FC236}">
                <a16:creationId xmlns:a16="http://schemas.microsoft.com/office/drawing/2014/main" id="{CF92CFD5-7088-43D9-9DAE-F14A58BE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D1F"/>
                </a:solidFill>
              </a:defRPr>
            </a:pPr>
            <a:r>
              <a:rPr sz="2475" b="1">
                <a:solidFill>
                  <a:srgbClr val="1D1D1F"/>
                </a:solidFill>
              </a:rPr>
              <a:t>이미 도래한 시장.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15800E5-2249-4A23-8BB0-9526227E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33333"/>
                </a:solidFill>
              </a:defRPr>
            </a:pPr>
            <a:r>
              <a:rPr sz="1238" b="0">
                <a:solidFill>
                  <a:srgbClr val="333333"/>
                </a:solidFill>
              </a:rPr>
              <a:t>체류외국인은 노동력에서 정주(定住) 소비·금융 고객으로 시장의 질이 바뀌고 있고, 정부 기조도 「양적 확대」에서 「수급 안정 + 관리·신뢰 강화」로 이동했습니다. ‘채용 이후’의 모든 것을 붙드는 인프라의 골든타임입니다.</a:t>
            </a:r>
          </a:p>
        </p:txBody>
      </p:sp>
      <p:sp>
        <p:nvSpPr>
          <p:cNvPr id="7" name="kpi-card-1">
            <a:extLst xmlns:a="http://schemas.openxmlformats.org/drawingml/2006/main">
              <a:ext uri="{FF2B5EF4-FFF2-40B4-BE49-F238E27FC236}">
                <a16:creationId xmlns:a16="http://schemas.microsoft.com/office/drawing/2014/main" id="{D63CD0EE-F1FF-4196-9197-F1E1A781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kpi-number-1">
            <a:extLst xmlns:a="http://schemas.openxmlformats.org/drawingml/2006/main">
              <a:ext uri="{FF2B5EF4-FFF2-40B4-BE49-F238E27FC236}">
                <a16:creationId xmlns:a16="http://schemas.microsoft.com/office/drawing/2014/main" id="{CB484B36-A0EE-4A1F-A095-0E0DF494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278</a:t>
            </a:r>
          </a:p>
        </p:txBody>
      </p:sp>
      <p:sp>
        <p:nvSpPr>
          <p:cNvPr id="9" name="kpi-unit-1">
            <a:extLst xmlns:a="http://schemas.openxmlformats.org/drawingml/2006/main">
              <a:ext uri="{FF2B5EF4-FFF2-40B4-BE49-F238E27FC236}">
                <a16:creationId xmlns:a16="http://schemas.microsoft.com/office/drawing/2014/main" id="{CABD541A-AAB7-4D32-8435-31C21785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7A7A"/>
                </a:solidFill>
              </a:defRPr>
            </a:pPr>
            <a:r>
              <a:rPr sz="1125" b="1">
                <a:solidFill>
                  <a:srgbClr val="7A7A7A"/>
                </a:solidFill>
              </a:rPr>
              <a:t>만</a:t>
            </a:r>
          </a:p>
        </p:txBody>
      </p:sp>
      <p:sp>
        <p:nvSpPr>
          <p:cNvPr id="10" name="kpi-label-1">
            <a:extLst xmlns:a="http://schemas.openxmlformats.org/drawingml/2006/main">
              <a:ext uri="{FF2B5EF4-FFF2-40B4-BE49-F238E27FC236}">
                <a16:creationId xmlns:a16="http://schemas.microsoft.com/office/drawing/2014/main" id="{0BBAE586-C5F4-400A-94D6-DC8A88A0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1D1F"/>
                </a:solidFill>
              </a:defRPr>
            </a:pPr>
            <a:r>
              <a:rPr sz="975" b="1">
                <a:solidFill>
                  <a:srgbClr val="1D1D1F"/>
                </a:solidFill>
              </a:rPr>
              <a:t>체류외국인 (’25.12)</a:t>
            </a:r>
          </a:p>
        </p:txBody>
      </p:sp>
      <p:sp>
        <p:nvSpPr>
          <p:cNvPr id="11" name="kpi-sub-1">
            <a:extLst xmlns:a="http://schemas.openxmlformats.org/drawingml/2006/main">
              <a:ext uri="{FF2B5EF4-FFF2-40B4-BE49-F238E27FC236}">
                <a16:creationId xmlns:a16="http://schemas.microsoft.com/office/drawing/2014/main" id="{4D91DAC9-DE71-4A03-88C0-1474644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2,783,247명 · 전년比 +5.0% · 추세상 ’27~’28년 300만 돌파 추정</a:t>
            </a:r>
          </a:p>
        </p:txBody>
      </p:sp>
      <p:sp>
        <p:nvSpPr>
          <p:cNvPr id="12" name="kpi-card-2">
            <a:extLst xmlns:a="http://schemas.openxmlformats.org/drawingml/2006/main">
              <a:ext uri="{FF2B5EF4-FFF2-40B4-BE49-F238E27FC236}">
                <a16:creationId xmlns:a16="http://schemas.microsoft.com/office/drawing/2014/main" id="{57E6FF0D-44E3-44A2-B96B-AC0E8F5F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kpi-number-2">
            <a:extLst xmlns:a="http://schemas.openxmlformats.org/drawingml/2006/main">
              <a:ext uri="{FF2B5EF4-FFF2-40B4-BE49-F238E27FC236}">
                <a16:creationId xmlns:a16="http://schemas.microsoft.com/office/drawing/2014/main" id="{7839439A-F9ED-42F5-A62D-73CBC2B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718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0015"/>
                </a:solidFill>
              </a:defRPr>
            </a:pPr>
            <a:r>
              <a:rPr sz="2250" b="1">
                <a:solidFill>
                  <a:srgbClr val="D70015"/>
                </a:solidFill>
              </a:rPr>
              <a:t>-313</a:t>
            </a:r>
          </a:p>
        </p:txBody>
      </p:sp>
      <p:sp>
        <p:nvSpPr>
          <p:cNvPr id="14" name="kpi-unit-2">
            <a:extLst xmlns:a="http://schemas.openxmlformats.org/drawingml/2006/main">
              <a:ext uri="{FF2B5EF4-FFF2-40B4-BE49-F238E27FC236}">
                <a16:creationId xmlns:a16="http://schemas.microsoft.com/office/drawing/2014/main" id="{1A6F2E21-19F2-49F6-91FA-59A2C9AB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38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7A7A"/>
                </a:solidFill>
              </a:defRPr>
            </a:pPr>
            <a:r>
              <a:rPr sz="1125" b="1">
                <a:solidFill>
                  <a:srgbClr val="7A7A7A"/>
                </a:solidFill>
              </a:rPr>
              <a:t>만</a:t>
            </a:r>
          </a:p>
        </p:txBody>
      </p:sp>
      <p:sp>
        <p:nvSpPr>
          <p:cNvPr id="15" name="kpi-label-2">
            <a:extLst xmlns:a="http://schemas.openxmlformats.org/drawingml/2006/main">
              <a:ext uri="{FF2B5EF4-FFF2-40B4-BE49-F238E27FC236}">
                <a16:creationId xmlns:a16="http://schemas.microsoft.com/office/drawing/2014/main" id="{8157B18F-99BD-4134-92E0-71B5A7C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1D1F"/>
                </a:solidFill>
              </a:defRPr>
            </a:pPr>
            <a:r>
              <a:rPr sz="975" b="1">
                <a:solidFill>
                  <a:srgbClr val="1D1D1F"/>
                </a:solidFill>
              </a:rPr>
              <a:t>생산연령인구 감소 (~2030)</a:t>
            </a:r>
          </a:p>
        </p:txBody>
      </p:sp>
      <p:sp>
        <p:nvSpPr>
          <p:cNvPr id="16" name="kpi-sub-2">
            <a:extLst xmlns:a="http://schemas.openxmlformats.org/drawingml/2006/main">
              <a:ext uri="{FF2B5EF4-FFF2-40B4-BE49-F238E27FC236}">
                <a16:creationId xmlns:a16="http://schemas.microsoft.com/office/drawing/2014/main" id="{F8A30FBB-4E7B-4387-B204-DE72F40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법무부 「2030 이민정책 미래전략」(통계청 추계 인용)</a:t>
            </a:r>
          </a:p>
        </p:txBody>
      </p:sp>
      <p:sp>
        <p:nvSpPr>
          <p:cNvPr id="17" name="kpi-card-3">
            <a:extLst xmlns:a="http://schemas.openxmlformats.org/drawingml/2006/main">
              <a:ext uri="{FF2B5EF4-FFF2-40B4-BE49-F238E27FC236}">
                <a16:creationId xmlns:a16="http://schemas.microsoft.com/office/drawing/2014/main" id="{E5181F43-00CF-4B4C-B7D2-2EA567A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037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kpi-number-3">
            <a:extLst xmlns:a="http://schemas.openxmlformats.org/drawingml/2006/main">
              <a:ext uri="{FF2B5EF4-FFF2-40B4-BE49-F238E27FC236}">
                <a16:creationId xmlns:a16="http://schemas.microsoft.com/office/drawing/2014/main" id="{B89BF31A-5C9D-4A12-9FE9-FA4C1D80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0015"/>
                </a:solidFill>
              </a:defRPr>
            </a:pPr>
            <a:r>
              <a:rPr sz="2250" b="1">
                <a:solidFill>
                  <a:srgbClr val="D70015"/>
                </a:solidFill>
              </a:rPr>
              <a:t>112</a:t>
            </a:r>
          </a:p>
        </p:txBody>
      </p:sp>
      <p:sp>
        <p:nvSpPr>
          <p:cNvPr id="19" name="kpi-unit-3">
            <a:extLst xmlns:a="http://schemas.openxmlformats.org/drawingml/2006/main">
              <a:ext uri="{FF2B5EF4-FFF2-40B4-BE49-F238E27FC236}">
                <a16:creationId xmlns:a16="http://schemas.microsoft.com/office/drawing/2014/main" id="{E8CE0A3F-BE28-431D-8F82-EDD772A5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7A7A"/>
                </a:solidFill>
              </a:defRPr>
            </a:pPr>
            <a:r>
              <a:rPr sz="1125" b="1">
                <a:solidFill>
                  <a:srgbClr val="7A7A7A"/>
                </a:solidFill>
              </a:rPr>
              <a:t>만+</a:t>
            </a:r>
          </a:p>
        </p:txBody>
      </p:sp>
      <p:sp>
        <p:nvSpPr>
          <p:cNvPr id="20" name="kpi-label-3">
            <a:extLst xmlns:a="http://schemas.openxmlformats.org/drawingml/2006/main">
              <a:ext uri="{FF2B5EF4-FFF2-40B4-BE49-F238E27FC236}">
                <a16:creationId xmlns:a16="http://schemas.microsoft.com/office/drawing/2014/main" id="{64D790D0-F3E0-4D22-9D8E-8B77952E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1D1F"/>
                </a:solidFill>
              </a:defRPr>
            </a:pPr>
            <a:r>
              <a:rPr sz="975" b="1">
                <a:solidFill>
                  <a:srgbClr val="1D1D1F"/>
                </a:solidFill>
              </a:rPr>
              <a:t>’30 산업계 부족인력 (최소)</a:t>
            </a:r>
          </a:p>
        </p:txBody>
      </p:sp>
      <p:sp>
        <p:nvSpPr>
          <p:cNvPr id="21" name="kpi-sub-3">
            <a:extLst xmlns:a="http://schemas.openxmlformats.org/drawingml/2006/main">
              <a:ext uri="{FF2B5EF4-FFF2-40B4-BE49-F238E27FC236}">
                <a16:creationId xmlns:a16="http://schemas.microsoft.com/office/drawing/2014/main" id="{B72E5200-BB22-4AB7-9ECC-57322D9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법무부 「2030 이민정책 미래전략」(’26.3)</a:t>
            </a:r>
          </a:p>
        </p:txBody>
      </p:sp>
      <p:sp>
        <p:nvSpPr>
          <p:cNvPr id="2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D27F043-DFFE-4011-B5C7-8E297396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C10ECD8-644D-4321-8BA2-BA310616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구조적 트리플 추진력 — 경기가 아니라 ‘구조’가 만든 수요</a:t>
            </a:r>
          </a:p>
        </p:txBody>
      </p:sp>
      <p:sp>
        <p:nvSpPr>
          <p:cNvPr id="24" name="driver-card-1">
            <a:extLst xmlns:a="http://schemas.openxmlformats.org/drawingml/2006/main">
              <a:ext uri="{FF2B5EF4-FFF2-40B4-BE49-F238E27FC236}">
                <a16:creationId xmlns:a16="http://schemas.microsoft.com/office/drawing/2014/main" id="{F91A7082-2927-46D5-8F07-0236BF2A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driver-tag-1">
            <a:extLst xmlns:a="http://schemas.openxmlformats.org/drawingml/2006/main">
              <a:ext uri="{FF2B5EF4-FFF2-40B4-BE49-F238E27FC236}">
                <a16:creationId xmlns:a16="http://schemas.microsoft.com/office/drawing/2014/main" id="{2E4038B6-39E3-4CA4-B7CD-1FE2D88F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9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6CC"/>
                </a:solidFill>
              </a:defRPr>
            </a:pPr>
            <a:r>
              <a:rPr sz="825" b="1">
                <a:solidFill>
                  <a:srgbClr val="0066CC"/>
                </a:solidFill>
              </a:rPr>
              <a:t>01 · 인구 절벽</a:t>
            </a:r>
          </a:p>
        </p:txBody>
      </p:sp>
      <p:sp>
        <p:nvSpPr>
          <p:cNvPr id="26" name="driver-heading-1">
            <a:extLst xmlns:a="http://schemas.openxmlformats.org/drawingml/2006/main">
              <a:ext uri="{FF2B5EF4-FFF2-40B4-BE49-F238E27FC236}">
                <a16:creationId xmlns:a16="http://schemas.microsoft.com/office/drawing/2014/main" id="{EB05E2BE-C5AA-4EDC-91A4-FFF0794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</a:defRPr>
            </a:pPr>
            <a:r>
              <a:rPr sz="1200" b="1">
                <a:solidFill>
                  <a:srgbClr val="1D1D1F"/>
                </a:solidFill>
              </a:rPr>
              <a:t>일할 사람이 사라진다</a:t>
            </a:r>
          </a:p>
        </p:txBody>
      </p:sp>
      <p:sp>
        <p:nvSpPr>
          <p:cNvPr id="27" name="driver-big-1">
            <a:extLst xmlns:a="http://schemas.openxmlformats.org/drawingml/2006/main">
              <a:ext uri="{FF2B5EF4-FFF2-40B4-BE49-F238E27FC236}">
                <a16:creationId xmlns:a16="http://schemas.microsoft.com/office/drawing/2014/main" id="{031D68B3-3F7E-4DD1-8211-36CF82CB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0015"/>
                </a:solidFill>
              </a:defRPr>
            </a:pPr>
            <a:r>
              <a:rPr sz="1800" b="1">
                <a:solidFill>
                  <a:srgbClr val="D70015"/>
                </a:solidFill>
              </a:rPr>
              <a:t>-313만</a:t>
            </a:r>
          </a:p>
        </p:txBody>
      </p:sp>
      <p:sp>
        <p:nvSpPr>
          <p:cNvPr id="28" name="driver-body-1">
            <a:extLst xmlns:a="http://schemas.openxmlformats.org/drawingml/2006/main">
              <a:ext uri="{FF2B5EF4-FFF2-40B4-BE49-F238E27FC236}">
                <a16:creationId xmlns:a16="http://schemas.microsoft.com/office/drawing/2014/main" id="{ACEFD3C5-C2C6-4342-988D-EC9CE84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1895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2030년까지 생산연령인구가 약 313만 명 줄고, 산업계는 최소 112만 명이 부족할 전망. 외국인력은 ‘선택’이 아니라 ‘필수 인프라’가 됩니다.</a:t>
            </a:r>
          </a:p>
        </p:txBody>
      </p:sp>
      <p:sp>
        <p:nvSpPr>
          <p:cNvPr id="29" name="driver-card-2">
            <a:extLst xmlns:a="http://schemas.openxmlformats.org/drawingml/2006/main">
              <a:ext uri="{FF2B5EF4-FFF2-40B4-BE49-F238E27FC236}">
                <a16:creationId xmlns:a16="http://schemas.microsoft.com/office/drawing/2014/main" id="{79E92760-6900-4627-8D21-818E1BED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000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driver-tag-2">
            <a:extLst xmlns:a="http://schemas.openxmlformats.org/drawingml/2006/main">
              <a:ext uri="{FF2B5EF4-FFF2-40B4-BE49-F238E27FC236}">
                <a16:creationId xmlns:a16="http://schemas.microsoft.com/office/drawing/2014/main" id="{7BAA8E44-6B37-4AA1-9E87-2E124FB1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05450"/>
            <a:ext cx="189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6CC"/>
                </a:solidFill>
              </a:defRPr>
            </a:pPr>
            <a:r>
              <a:rPr sz="825" b="1">
                <a:solidFill>
                  <a:srgbClr val="0066CC"/>
                </a:solidFill>
              </a:rPr>
              <a:t>02 · 구조적 인력난</a:t>
            </a:r>
          </a:p>
        </p:txBody>
      </p:sp>
      <p:sp>
        <p:nvSpPr>
          <p:cNvPr id="31" name="driver-heading-2">
            <a:extLst xmlns:a="http://schemas.openxmlformats.org/drawingml/2006/main">
              <a:ext uri="{FF2B5EF4-FFF2-40B4-BE49-F238E27FC236}">
                <a16:creationId xmlns:a16="http://schemas.microsoft.com/office/drawing/2014/main" id="{B026635B-5168-4176-BFBF-AF0F49A4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62625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</a:defRPr>
            </a:pPr>
            <a:r>
              <a:rPr sz="1200" b="1">
                <a:solidFill>
                  <a:srgbClr val="1D1D1F"/>
                </a:solidFill>
              </a:rPr>
              <a:t>“사람이 없어서” 쓴다</a:t>
            </a:r>
          </a:p>
        </p:txBody>
      </p:sp>
      <p:sp>
        <p:nvSpPr>
          <p:cNvPr id="32" name="driver-big-2">
            <a:extLst xmlns:a="http://schemas.openxmlformats.org/drawingml/2006/main">
              <a:ext uri="{FF2B5EF4-FFF2-40B4-BE49-F238E27FC236}">
                <a16:creationId xmlns:a16="http://schemas.microsoft.com/office/drawing/2014/main" id="{2A67FC35-EA2A-4315-B296-D249C9B4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1505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92.9%</a:t>
            </a:r>
          </a:p>
        </p:txBody>
      </p:sp>
      <p:sp>
        <p:nvSpPr>
          <p:cNvPr id="33" name="driver-body-2">
            <a:extLst xmlns:a="http://schemas.openxmlformats.org/drawingml/2006/main">
              <a:ext uri="{FF2B5EF4-FFF2-40B4-BE49-F238E27FC236}">
                <a16:creationId xmlns:a16="http://schemas.microsoft.com/office/drawing/2014/main" id="{BF5C31BE-E608-4C56-96A4-6FE15516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534150"/>
            <a:ext cx="1895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내국인 미고용 사유의 92.9%가 ‘내국인 취업 기피’, 고용 사유 82.6%가 ‘내국인 구인난’. 인건비 절감이 아닌, 경기와 무관한 구조 수요.</a:t>
            </a:r>
          </a:p>
        </p:txBody>
      </p:sp>
      <p:sp>
        <p:nvSpPr>
          <p:cNvPr id="34" name="driver-card-3">
            <a:extLst xmlns:a="http://schemas.openxmlformats.org/drawingml/2006/main">
              <a:ext uri="{FF2B5EF4-FFF2-40B4-BE49-F238E27FC236}">
                <a16:creationId xmlns:a16="http://schemas.microsoft.com/office/drawing/2014/main" id="{D899AA2F-13C0-4D99-9291-B4D57D70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34000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driver-tag-3">
            <a:extLst xmlns:a="http://schemas.openxmlformats.org/drawingml/2006/main">
              <a:ext uri="{FF2B5EF4-FFF2-40B4-BE49-F238E27FC236}">
                <a16:creationId xmlns:a16="http://schemas.microsoft.com/office/drawing/2014/main" id="{85F973F5-CD37-4ED7-9F51-2558D3D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05450"/>
            <a:ext cx="189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6CC"/>
                </a:solidFill>
              </a:defRPr>
            </a:pPr>
            <a:r>
              <a:rPr sz="825" b="1">
                <a:solidFill>
                  <a:srgbClr val="0066CC"/>
                </a:solidFill>
              </a:rPr>
              <a:t>03 · 정주화·고숙련화</a:t>
            </a:r>
          </a:p>
        </p:txBody>
      </p:sp>
      <p:sp>
        <p:nvSpPr>
          <p:cNvPr id="36" name="driver-heading-3">
            <a:extLst xmlns:a="http://schemas.openxmlformats.org/drawingml/2006/main">
              <a:ext uri="{FF2B5EF4-FFF2-40B4-BE49-F238E27FC236}">
                <a16:creationId xmlns:a16="http://schemas.microsoft.com/office/drawing/2014/main" id="{1FC5BAC8-839E-4DFD-89AC-50361A7D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62625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</a:defRPr>
            </a:pPr>
            <a:r>
              <a:rPr sz="1200" b="1">
                <a:solidFill>
                  <a:srgbClr val="1D1D1F"/>
                </a:solidFill>
              </a:rPr>
              <a:t>노동력 → 소비·금융 고객</a:t>
            </a:r>
          </a:p>
        </p:txBody>
      </p:sp>
      <p:sp>
        <p:nvSpPr>
          <p:cNvPr id="37" name="driver-big-3">
            <a:extLst xmlns:a="http://schemas.openxmlformats.org/drawingml/2006/main">
              <a:ext uri="{FF2B5EF4-FFF2-40B4-BE49-F238E27FC236}">
                <a16:creationId xmlns:a16="http://schemas.microsoft.com/office/drawing/2014/main" id="{8B4C2C3F-0633-4F11-B930-9372211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1505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+17.1%</a:t>
            </a:r>
          </a:p>
        </p:txBody>
      </p:sp>
      <p:sp>
        <p:nvSpPr>
          <p:cNvPr id="38" name="driver-body-3">
            <a:extLst xmlns:a="http://schemas.openxmlformats.org/drawingml/2006/main">
              <a:ext uri="{FF2B5EF4-FFF2-40B4-BE49-F238E27FC236}">
                <a16:creationId xmlns:a16="http://schemas.microsoft.com/office/drawing/2014/main" id="{23CE243C-BC22-4998-82C0-3F3661C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34150"/>
            <a:ext cx="1895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유학생 30.9만(+17.1%, 증가폭 1위)·영주 22.1만(+8.9%)·결혼이민 18.8만(+3.7%). 단기 순환에서 반복 수요로 이동.</a:t>
            </a:r>
          </a:p>
        </p:txBody>
      </p:sp>
      <p:sp>
        <p:nvSpPr>
          <p:cNvPr id="39" name="callout">
            <a:extLst xmlns:a="http://schemas.openxmlformats.org/drawingml/2006/main">
              <a:ext uri="{FF2B5EF4-FFF2-40B4-BE49-F238E27FC236}">
                <a16:creationId xmlns:a16="http://schemas.microsoft.com/office/drawing/2014/main" id="{58981652-CDCE-48C2-88C1-F84C337D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905750"/>
            <a:ext cx="72009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FE4FA"/>
            </a:solidFill>
            <a:prstDash val="solid"/>
          </a:ln>
        </p:spPr>
      </p:sp>
      <p:sp>
        <p:nvSpPr>
          <p:cNvPr id="40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0484A1CB-9837-4E68-8FB2-084CD6E3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676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</a:defRPr>
            </a:pPr>
            <a:r>
              <a:rPr sz="1050" b="1">
                <a:solidFill>
                  <a:srgbClr val="1D1D1F"/>
                </a:solidFill>
              </a:rPr>
              <a:t>정책 골든타임 — 정부 기조 전환이 우리의 테제와 정합</a:t>
            </a:r>
          </a:p>
        </p:txBody>
      </p:sp>
      <p:sp>
        <p:nvSpPr>
          <p:cNvPr id="41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57CDF893-6542-48CD-92B9-C56E9CD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34375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3333"/>
                </a:solidFill>
              </a:defRPr>
            </a:pPr>
            <a:r>
              <a:rPr sz="990" b="0">
                <a:solidFill>
                  <a:srgbClr val="333333"/>
                </a:solidFill>
              </a:rPr>
              <a:t>E-9 신규 도입은 13만→8만(’26, −38.5%)으로 줄어드는 대신, 숙련(E-7-4)·계절(E-8) 같은 장기체류·전환 트랙이 확대됩니다. 정책 무게가 ‘신규 유입’에서 존량(재직·전환·정착) 관리로 옮겨가는 것 — 곧 체류·임금·서류 반복 컴플라이언스와 정주 금융 수요가 구조적으로 커지는 방향입니다.</a:t>
            </a:r>
          </a:p>
        </p:txBody>
      </p:sp>
      <p:sp>
        <p:nvSpPr>
          <p:cNvPr id="42" name="source-line">
            <a:extLst xmlns:a="http://schemas.openxmlformats.org/drawingml/2006/main">
              <a:ext uri="{FF2B5EF4-FFF2-40B4-BE49-F238E27FC236}">
                <a16:creationId xmlns:a16="http://schemas.microsoft.com/office/drawing/2014/main" id="{4B1C7DA6-005F-4561-89EC-88ECAAD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29800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76BABDC-DAC7-4917-B3AB-183955D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63150"/>
            <a:ext cx="720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7A7A7A"/>
                </a:solidFill>
              </a:defRPr>
            </a:pPr>
            <a:r>
              <a:rPr sz="810" b="0">
                <a:solidFill>
                  <a:srgbClr val="7A7A7A"/>
                </a:solidFill>
              </a:rPr>
              <a:t>1 중소기업중앙회 「2025년 외국인력 고용 종합애로 실태조사」. · 출처: 법무부 「2025년 12월 출입국·외국인정책 통계월보」; 법무부 「2030 이민정책 미래전략」; 고용노동부 E-9 도입쿼터. 비자·정책 수치는 최신 1차 통계 재확인 필요.</a:t>
            </a:r>
          </a:p>
        </p:txBody>
      </p:sp>
    </p:spTree>
    <p:extLst>
      <p:ext uri="{BB962C8B-B14F-4D97-AF65-F5344CB8AC3E}">
        <p14:creationId xmlns:p14="http://schemas.microsoft.com/office/powerpoint/2010/main" val="1098336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A5C778-3EB2-4481-BB2A-DA2FE7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2 / 3 · 시장분석 ①</a:t>
            </a:r>
          </a:p>
        </p:txBody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9A56E45-2CC7-4F20-8E43-38C6A8E7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6CC"/>
                </a:solidFill>
              </a:defRPr>
            </a:pPr>
            <a:r>
              <a:rPr sz="938" b="1">
                <a:solidFill>
                  <a:srgbClr val="0066CC"/>
                </a:solidFill>
              </a:rPr>
              <a:t>MARKET SIZE · 도달 가능 시장</a:t>
            </a:r>
          </a:p>
        </p:txBody>
      </p:sp>
      <p:sp>
        <p:nvSpPr>
          <p:cNvPr id="3" name="title-s2-a">
            <a:extLst xmlns:a="http://schemas.openxmlformats.org/drawingml/2006/main">
              <a:ext uri="{FF2B5EF4-FFF2-40B4-BE49-F238E27FC236}">
                <a16:creationId xmlns:a16="http://schemas.microsoft.com/office/drawing/2014/main" id="{7CA1B50E-CAF3-44A1-AEE6-61DC2B97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D1F"/>
                </a:solidFill>
              </a:defRPr>
            </a:pPr>
            <a:r>
              <a:rPr sz="2475" b="1">
                <a:solidFill>
                  <a:srgbClr val="1D1D1F"/>
                </a:solidFill>
              </a:rPr>
              <a:t>278만에서</a:t>
            </a:r>
          </a:p>
        </p:txBody>
      </p:sp>
      <p:sp>
        <p:nvSpPr>
          <p:cNvPr id="4" name="title-s2-b">
            <a:extLst xmlns:a="http://schemas.openxmlformats.org/drawingml/2006/main">
              <a:ext uri="{FF2B5EF4-FFF2-40B4-BE49-F238E27FC236}">
                <a16:creationId xmlns:a16="http://schemas.microsoft.com/office/drawing/2014/main" id="{35EE4700-2056-4B2A-964A-DD4586B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66CC"/>
                </a:solidFill>
              </a:defRPr>
            </a:pPr>
            <a:r>
              <a:rPr sz="2475" b="1">
                <a:solidFill>
                  <a:srgbClr val="0066CC"/>
                </a:solidFill>
              </a:rPr>
              <a:t>49만·216만으로,</a:t>
            </a:r>
          </a:p>
        </p:txBody>
      </p:sp>
      <p:sp>
        <p:nvSpPr>
          <p:cNvPr id="5" name="title-s2-c">
            <a:extLst xmlns:a="http://schemas.openxmlformats.org/drawingml/2006/main">
              <a:ext uri="{FF2B5EF4-FFF2-40B4-BE49-F238E27FC236}">
                <a16:creationId xmlns:a16="http://schemas.microsoft.com/office/drawing/2014/main" id="{3F0F6966-8B8C-4611-84B6-A5A95F11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D1F"/>
                </a:solidFill>
              </a:defRPr>
            </a:pPr>
            <a:r>
              <a:rPr sz="2475" b="1">
                <a:solidFill>
                  <a:srgbClr val="1D1D1F"/>
                </a:solidFill>
              </a:rPr>
              <a:t>두 개의 시장으로 갈라집니다.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642A0D6-CEFC-441A-9D1A-C9E3023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33333"/>
                </a:solidFill>
              </a:defRPr>
            </a:pPr>
            <a:r>
              <a:rPr sz="1238" b="0">
                <a:solidFill>
                  <a:srgbClr val="333333"/>
                </a:solidFill>
              </a:rPr>
              <a:t>전체 체류외국인을 최상단으로, 기업이 직접 관리하는 B2B(사업장)와 근로자 본인을 대상으로 하는 B2C(사람)로 시장을 분리해 산정합니다.</a:t>
            </a:r>
          </a:p>
        </p:txBody>
      </p:sp>
      <p:sp>
        <p:nvSpPr>
          <p:cNvPr id="7" name="tam-bar">
            <a:extLst xmlns:a="http://schemas.openxmlformats.org/drawingml/2006/main">
              <a:ext uri="{FF2B5EF4-FFF2-40B4-BE49-F238E27FC236}">
                <a16:creationId xmlns:a16="http://schemas.microsoft.com/office/drawing/2014/main" id="{7ED41CA2-6EC0-43C7-84A6-F53A56B3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m-label">
            <a:extLst xmlns:a="http://schemas.openxmlformats.org/drawingml/2006/main">
              <a:ext uri="{FF2B5EF4-FFF2-40B4-BE49-F238E27FC236}">
                <a16:creationId xmlns:a16="http://schemas.microsoft.com/office/drawing/2014/main" id="{44B0596F-58C0-4E04-A9E2-4079600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29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TAM · 전체 체류외국인 (’25.12)</a:t>
            </a:r>
          </a:p>
        </p:txBody>
      </p:sp>
      <p:sp>
        <p:nvSpPr>
          <p:cNvPr id="9" name="tam-value">
            <a:extLst xmlns:a="http://schemas.openxmlformats.org/drawingml/2006/main">
              <a:ext uri="{FF2B5EF4-FFF2-40B4-BE49-F238E27FC236}">
                <a16:creationId xmlns:a16="http://schemas.microsoft.com/office/drawing/2014/main" id="{ADABBA19-3FA7-4CFF-B2AE-9CE7B365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278 만 명</a:t>
            </a:r>
          </a:p>
        </p:txBody>
      </p:sp>
      <p:sp>
        <p:nvSpPr>
          <p:cNvPr id="10" name="sam-bar">
            <a:extLst xmlns:a="http://schemas.openxmlformats.org/drawingml/2006/main">
              <a:ext uri="{FF2B5EF4-FFF2-40B4-BE49-F238E27FC236}">
                <a16:creationId xmlns:a16="http://schemas.microsoft.com/office/drawing/2014/main" id="{F5702F42-9472-404A-9F3B-3C03DC0B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9626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m-label">
            <a:extLst xmlns:a="http://schemas.openxmlformats.org/drawingml/2006/main">
              <a:ext uri="{FF2B5EF4-FFF2-40B4-BE49-F238E27FC236}">
                <a16:creationId xmlns:a16="http://schemas.microsoft.com/office/drawing/2014/main" id="{F6CEA2B4-5DBA-46F3-B658-39548317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SAM · 장기체류 잠재고객 (’25.11)</a:t>
            </a:r>
          </a:p>
        </p:txBody>
      </p:sp>
      <p:sp>
        <p:nvSpPr>
          <p:cNvPr id="12" name="sam-value">
            <a:extLst xmlns:a="http://schemas.openxmlformats.org/drawingml/2006/main">
              <a:ext uri="{FF2B5EF4-FFF2-40B4-BE49-F238E27FC236}">
                <a16:creationId xmlns:a16="http://schemas.microsoft.com/office/drawing/2014/main" id="{6BBCDB49-EFEA-4732-B57E-E18FDD7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216 만 명</a:t>
            </a:r>
          </a:p>
        </p:txBody>
      </p:sp>
      <p:sp>
        <p:nvSpPr>
          <p:cNvPr id="13" name="b2b-bar">
            <a:extLst xmlns:a="http://schemas.openxmlformats.org/drawingml/2006/main">
              <a:ext uri="{FF2B5EF4-FFF2-40B4-BE49-F238E27FC236}">
                <a16:creationId xmlns:a16="http://schemas.microsoft.com/office/drawing/2014/main" id="{BC3268E2-BAEA-4648-95CB-6CE21C81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4076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3A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2b-label">
            <a:extLst xmlns:a="http://schemas.openxmlformats.org/drawingml/2006/main">
              <a:ext uri="{FF2B5EF4-FFF2-40B4-BE49-F238E27FC236}">
                <a16:creationId xmlns:a16="http://schemas.microsoft.com/office/drawing/2014/main" id="{32FA09E5-9074-40CB-A29C-071B3383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B2B wedge · E계열 취업 풀</a:t>
            </a:r>
          </a:p>
        </p:txBody>
      </p:sp>
      <p:sp>
        <p:nvSpPr>
          <p:cNvPr id="15" name="b2b-value">
            <a:extLst xmlns:a="http://schemas.openxmlformats.org/drawingml/2006/main">
              <a:ext uri="{FF2B5EF4-FFF2-40B4-BE49-F238E27FC236}">
                <a16:creationId xmlns:a16="http://schemas.microsoft.com/office/drawing/2014/main" id="{6ED7EBDE-9919-4534-9C49-7E85422D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49 만 명</a:t>
            </a:r>
          </a:p>
        </p:txBody>
      </p:sp>
      <p:sp>
        <p:nvSpPr>
          <p:cNvPr id="16" name="wedge-1">
            <a:extLst xmlns:a="http://schemas.openxmlformats.org/drawingml/2006/main">
              <a:ext uri="{FF2B5EF4-FFF2-40B4-BE49-F238E27FC236}">
                <a16:creationId xmlns:a16="http://schemas.microsoft.com/office/drawing/2014/main" id="{CB30295A-3843-4536-A833-BAB58B4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3333"/>
                </a:solidFill>
              </a:defRPr>
            </a:pPr>
            <a:r>
              <a:rPr sz="938" b="0">
                <a:solidFill>
                  <a:srgbClr val="333333"/>
                </a:solidFill>
              </a:rPr>
              <a:t>· B2C SAM 216만 = 등록외국인 160.66만 + 거소신고 외국국적동포 55.39만</a:t>
            </a:r>
          </a:p>
        </p:txBody>
      </p:sp>
      <p:sp>
        <p:nvSpPr>
          <p:cNvPr id="17" name="wedge-2">
            <a:extLst xmlns:a="http://schemas.openxmlformats.org/drawingml/2006/main">
              <a:ext uri="{FF2B5EF4-FFF2-40B4-BE49-F238E27FC236}">
                <a16:creationId xmlns:a16="http://schemas.microsoft.com/office/drawing/2014/main" id="{29B6C98C-078F-4F9C-B694-E8CA1279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3333"/>
                </a:solidFill>
              </a:defRPr>
            </a:pPr>
            <a:r>
              <a:rPr sz="938" b="0">
                <a:solidFill>
                  <a:srgbClr val="333333"/>
                </a:solidFill>
              </a:rPr>
              <a:t>· B2B 49만 = E계열(E-1~E-10) 취업비자 풀 (’24 baseline)</a:t>
            </a:r>
          </a:p>
        </p:txBody>
      </p:sp>
      <p:sp>
        <p:nvSpPr>
          <p:cNvPr id="1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89EB5247-9024-45F1-8206-AC0A83AC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1E35DC5D-788F-478B-A222-DFBE57F8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체류자격별 시장 분해 (법무부 출입국 통계, ’25末)</a:t>
            </a:r>
          </a:p>
        </p:txBody>
      </p:sp>
      <p:sp>
        <p:nvSpPr>
          <p:cNvPr id="20" name="table-header-0">
            <a:extLst xmlns:a="http://schemas.openxmlformats.org/drawingml/2006/main">
              <a:ext uri="{FF2B5EF4-FFF2-40B4-BE49-F238E27FC236}">
                <a16:creationId xmlns:a16="http://schemas.microsoft.com/office/drawing/2014/main" id="{E5A765D8-FDD0-4FC1-94CF-63E0A18F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245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7A7A"/>
                </a:solidFill>
              </a:defRPr>
            </a:pPr>
            <a:r>
              <a:rPr sz="825" b="1">
                <a:solidFill>
                  <a:srgbClr val="7A7A7A"/>
                </a:solidFill>
              </a:rPr>
              <a:t>구분</a:t>
            </a:r>
          </a:p>
        </p:txBody>
      </p:sp>
      <p:sp>
        <p:nvSpPr>
          <p:cNvPr id="21" name="table-header-1">
            <a:extLst xmlns:a="http://schemas.openxmlformats.org/drawingml/2006/main">
              <a:ext uri="{FF2B5EF4-FFF2-40B4-BE49-F238E27FC236}">
                <a16:creationId xmlns:a16="http://schemas.microsoft.com/office/drawing/2014/main" id="{CF52B2EA-D6F5-471B-853B-F6AC5824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124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7A7A"/>
                </a:solidFill>
              </a:defRPr>
            </a:pPr>
            <a:r>
              <a:rPr sz="825" b="1">
                <a:solidFill>
                  <a:srgbClr val="7A7A7A"/>
                </a:solidFill>
              </a:rPr>
              <a:t>규모</a:t>
            </a:r>
          </a:p>
        </p:txBody>
      </p:sp>
      <p:sp>
        <p:nvSpPr>
          <p:cNvPr id="22" name="table-header-2">
            <a:extLst xmlns:a="http://schemas.openxmlformats.org/drawingml/2006/main">
              <a:ext uri="{FF2B5EF4-FFF2-40B4-BE49-F238E27FC236}">
                <a16:creationId xmlns:a16="http://schemas.microsoft.com/office/drawing/2014/main" id="{FF8B51C5-2A3B-435D-8907-5C2B3E3A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1245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7A7A"/>
                </a:solidFill>
              </a:defRPr>
            </a:pPr>
            <a:r>
              <a:rPr sz="825" b="1">
                <a:solidFill>
                  <a:srgbClr val="7A7A7A"/>
                </a:solidFill>
              </a:rPr>
              <a:t>증감</a:t>
            </a:r>
          </a:p>
        </p:txBody>
      </p:sp>
      <p:sp>
        <p:nvSpPr>
          <p:cNvPr id="23" name="table-header-3">
            <a:extLst xmlns:a="http://schemas.openxmlformats.org/drawingml/2006/main">
              <a:ext uri="{FF2B5EF4-FFF2-40B4-BE49-F238E27FC236}">
                <a16:creationId xmlns:a16="http://schemas.microsoft.com/office/drawing/2014/main" id="{75AE9946-D8AD-494A-B4CF-DF3E218E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2457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7A7A"/>
                </a:solidFill>
              </a:defRPr>
            </a:pPr>
            <a:r>
              <a:rPr sz="825" b="1">
                <a:solidFill>
                  <a:srgbClr val="7A7A7A"/>
                </a:solidFill>
              </a:rPr>
              <a:t>시장 의미</a:t>
            </a:r>
          </a:p>
        </p:txBody>
      </p:sp>
      <p:sp>
        <p:nvSpPr>
          <p:cNvPr id="24" name="table-header-line">
            <a:extLst xmlns:a="http://schemas.openxmlformats.org/drawingml/2006/main">
              <a:ext uri="{FF2B5EF4-FFF2-40B4-BE49-F238E27FC236}">
                <a16:creationId xmlns:a16="http://schemas.microsoft.com/office/drawing/2014/main" id="{A14AC28A-561E-449C-AB70-D510081D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row-highlight-0">
            <a:extLst xmlns:a="http://schemas.openxmlformats.org/drawingml/2006/main">
              <a:ext uri="{FF2B5EF4-FFF2-40B4-BE49-F238E27FC236}">
                <a16:creationId xmlns:a16="http://schemas.microsoft.com/office/drawing/2014/main" id="{E11FD62B-580D-4CBF-8DD6-CE31C6E3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720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row-line-0">
            <a:extLst xmlns:a="http://schemas.openxmlformats.org/drawingml/2006/main">
              <a:ext uri="{FF2B5EF4-FFF2-40B4-BE49-F238E27FC236}">
                <a16:creationId xmlns:a16="http://schemas.microsoft.com/office/drawing/2014/main" id="{E9376D9F-FCD9-416B-A73B-B845D857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3417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r0-c0">
            <a:extLst xmlns:a="http://schemas.openxmlformats.org/drawingml/2006/main">
              <a:ext uri="{FF2B5EF4-FFF2-40B4-BE49-F238E27FC236}">
                <a16:creationId xmlns:a16="http://schemas.microsoft.com/office/drawing/2014/main" id="{55AD7A78-6747-4EE1-B4A3-95FEEF89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333333"/>
                </a:solidFill>
              </a:defRPr>
            </a:pPr>
            <a:r>
              <a:rPr sz="953" b="1">
                <a:solidFill>
                  <a:srgbClr val="333333"/>
                </a:solidFill>
              </a:rPr>
              <a:t>전체 체류외국인</a:t>
            </a:r>
          </a:p>
        </p:txBody>
      </p:sp>
      <p:sp>
        <p:nvSpPr>
          <p:cNvPr id="28" name="table-r0-c1">
            <a:extLst xmlns:a="http://schemas.openxmlformats.org/drawingml/2006/main">
              <a:ext uri="{FF2B5EF4-FFF2-40B4-BE49-F238E27FC236}">
                <a16:creationId xmlns:a16="http://schemas.microsoft.com/office/drawing/2014/main" id="{3FF312E7-2625-4ACF-A8AE-807B4E9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333333"/>
                </a:solidFill>
              </a:defRPr>
            </a:pPr>
            <a:r>
              <a:rPr sz="953" b="1">
                <a:solidFill>
                  <a:srgbClr val="333333"/>
                </a:solidFill>
              </a:rPr>
              <a:t>278.3만</a:t>
            </a:r>
          </a:p>
        </p:txBody>
      </p:sp>
      <p:sp>
        <p:nvSpPr>
          <p:cNvPr id="29" name="table-r0-c2">
            <a:extLst xmlns:a="http://schemas.openxmlformats.org/drawingml/2006/main">
              <a:ext uri="{FF2B5EF4-FFF2-40B4-BE49-F238E27FC236}">
                <a16:creationId xmlns:a16="http://schemas.microsoft.com/office/drawing/2014/main" id="{1C278349-B623-470B-A40C-7E1AD500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579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+5.0%</a:t>
            </a:r>
          </a:p>
        </p:txBody>
      </p:sp>
      <p:sp>
        <p:nvSpPr>
          <p:cNvPr id="30" name="table-r0-c3">
            <a:extLst xmlns:a="http://schemas.openxmlformats.org/drawingml/2006/main">
              <a:ext uri="{FF2B5EF4-FFF2-40B4-BE49-F238E27FC236}">
                <a16:creationId xmlns:a16="http://schemas.microsoft.com/office/drawing/2014/main" id="{9834FB20-0AAB-4310-8786-818441C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579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TAM 최상단 (깔때기 진입)</a:t>
            </a:r>
          </a:p>
        </p:txBody>
      </p:sp>
      <p:sp>
        <p:nvSpPr>
          <p:cNvPr id="31" name="table-row-line-1">
            <a:extLst xmlns:a="http://schemas.openxmlformats.org/drawingml/2006/main">
              <a:ext uri="{FF2B5EF4-FFF2-40B4-BE49-F238E27FC236}">
                <a16:creationId xmlns:a16="http://schemas.microsoft.com/office/drawing/2014/main" id="{7696A96D-B918-41E7-9A3B-078EBFC5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9612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r1-c0">
            <a:extLst xmlns:a="http://schemas.openxmlformats.org/drawingml/2006/main">
              <a:ext uri="{FF2B5EF4-FFF2-40B4-BE49-F238E27FC236}">
                <a16:creationId xmlns:a16="http://schemas.microsoft.com/office/drawing/2014/main" id="{A93533B3-FD81-4738-9E8C-33A79B0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1990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장기체류외국인</a:t>
            </a:r>
          </a:p>
        </p:txBody>
      </p:sp>
      <p:sp>
        <p:nvSpPr>
          <p:cNvPr id="33" name="table-r1-c1">
            <a:extLst xmlns:a="http://schemas.openxmlformats.org/drawingml/2006/main">
              <a:ext uri="{FF2B5EF4-FFF2-40B4-BE49-F238E27FC236}">
                <a16:creationId xmlns:a16="http://schemas.microsoft.com/office/drawing/2014/main" id="{CC623893-DBAC-457F-B3AC-A2F768F4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8199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216.1만</a:t>
            </a:r>
          </a:p>
        </p:txBody>
      </p:sp>
      <p:sp>
        <p:nvSpPr>
          <p:cNvPr id="34" name="table-r1-c2">
            <a:extLst xmlns:a="http://schemas.openxmlformats.org/drawingml/2006/main">
              <a:ext uri="{FF2B5EF4-FFF2-40B4-BE49-F238E27FC236}">
                <a16:creationId xmlns:a16="http://schemas.microsoft.com/office/drawing/2014/main" id="{BF3A1101-C243-452F-B64D-6D48A40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8199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+8.0% 등록</a:t>
            </a:r>
          </a:p>
        </p:txBody>
      </p:sp>
      <p:sp>
        <p:nvSpPr>
          <p:cNvPr id="35" name="table-r1-c3">
            <a:extLst xmlns:a="http://schemas.openxmlformats.org/drawingml/2006/main">
              <a:ext uri="{FF2B5EF4-FFF2-40B4-BE49-F238E27FC236}">
                <a16:creationId xmlns:a16="http://schemas.microsoft.com/office/drawing/2014/main" id="{35E0B858-15F1-439E-9A79-915822E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8199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333333"/>
                </a:solidFill>
              </a:defRPr>
            </a:pPr>
            <a:r>
              <a:rPr sz="953" b="1">
                <a:solidFill>
                  <a:srgbClr val="333333"/>
                </a:solidFill>
              </a:rPr>
              <a:t>B2C TAM — 환급·금융·관리 대상</a:t>
            </a:r>
          </a:p>
        </p:txBody>
      </p:sp>
      <p:sp>
        <p:nvSpPr>
          <p:cNvPr id="36" name="table-row-line-2">
            <a:extLst xmlns:a="http://schemas.openxmlformats.org/drawingml/2006/main">
              <a:ext uri="{FF2B5EF4-FFF2-40B4-BE49-F238E27FC236}">
                <a16:creationId xmlns:a16="http://schemas.microsoft.com/office/drawing/2014/main" id="{753D535E-5278-4D8A-8D56-3CA4ED15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5807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able-r2-c0">
            <a:extLst xmlns:a="http://schemas.openxmlformats.org/drawingml/2006/main">
              <a:ext uri="{FF2B5EF4-FFF2-40B4-BE49-F238E27FC236}">
                <a16:creationId xmlns:a16="http://schemas.microsoft.com/office/drawing/2014/main" id="{F7A22EF3-9A30-4FFF-86DB-04DF48C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18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취업자격 (광의)</a:t>
            </a:r>
          </a:p>
        </p:txBody>
      </p:sp>
      <p:sp>
        <p:nvSpPr>
          <p:cNvPr id="38" name="table-r2-c1">
            <a:extLst xmlns:a="http://schemas.openxmlformats.org/drawingml/2006/main">
              <a:ext uri="{FF2B5EF4-FFF2-40B4-BE49-F238E27FC236}">
                <a16:creationId xmlns:a16="http://schemas.microsoft.com/office/drawing/2014/main" id="{D5ECF5C7-9673-49B2-81D9-9B654EA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181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59.4만</a:t>
            </a:r>
          </a:p>
        </p:txBody>
      </p:sp>
      <p:sp>
        <p:nvSpPr>
          <p:cNvPr id="39" name="table-r2-c2">
            <a:extLst xmlns:a="http://schemas.openxmlformats.org/drawingml/2006/main">
              <a:ext uri="{FF2B5EF4-FFF2-40B4-BE49-F238E27FC236}">
                <a16:creationId xmlns:a16="http://schemas.microsoft.com/office/drawing/2014/main" id="{F82F460F-DBD0-415F-A87E-69081AD6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1818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+4.8%</a:t>
            </a:r>
          </a:p>
        </p:txBody>
      </p:sp>
      <p:sp>
        <p:nvSpPr>
          <p:cNvPr id="40" name="table-r2-c3">
            <a:extLst xmlns:a="http://schemas.openxmlformats.org/drawingml/2006/main">
              <a:ext uri="{FF2B5EF4-FFF2-40B4-BE49-F238E27FC236}">
                <a16:creationId xmlns:a16="http://schemas.microsoft.com/office/drawing/2014/main" id="{071D597C-E616-4803-A2B1-121F7444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1818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H-2·C-4 포함 광의 풀</a:t>
            </a:r>
          </a:p>
        </p:txBody>
      </p:sp>
      <p:sp>
        <p:nvSpPr>
          <p:cNvPr id="41" name="table-row-highlight-3">
            <a:extLst xmlns:a="http://schemas.openxmlformats.org/drawingml/2006/main">
              <a:ext uri="{FF2B5EF4-FFF2-40B4-BE49-F238E27FC236}">
                <a16:creationId xmlns:a16="http://schemas.microsoft.com/office/drawing/2014/main" id="{C5A42D01-F58C-4594-A5C9-4825E872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58075"/>
            <a:ext cx="720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able-row-line-3">
            <a:extLst xmlns:a="http://schemas.openxmlformats.org/drawingml/2006/main">
              <a:ext uri="{FF2B5EF4-FFF2-40B4-BE49-F238E27FC236}">
                <a16:creationId xmlns:a16="http://schemas.microsoft.com/office/drawing/2014/main" id="{254FC6A4-2D8E-465E-B3AB-D874593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2002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able-r3-c0">
            <a:extLst xmlns:a="http://schemas.openxmlformats.org/drawingml/2006/main">
              <a:ext uri="{FF2B5EF4-FFF2-40B4-BE49-F238E27FC236}">
                <a16:creationId xmlns:a16="http://schemas.microsoft.com/office/drawing/2014/main" id="{C3649B14-AD4A-46B0-B11F-F3F9F11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4380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└ E계열 (E-1~E-10)</a:t>
            </a:r>
          </a:p>
        </p:txBody>
      </p:sp>
      <p:sp>
        <p:nvSpPr>
          <p:cNvPr id="44" name="table-r3-c1">
            <a:extLst xmlns:a="http://schemas.openxmlformats.org/drawingml/2006/main">
              <a:ext uri="{FF2B5EF4-FFF2-40B4-BE49-F238E27FC236}">
                <a16:creationId xmlns:a16="http://schemas.microsoft.com/office/drawing/2014/main" id="{A7CD97C0-034E-499B-9950-8F1D23C8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543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333333"/>
                </a:solidFill>
              </a:defRPr>
            </a:pPr>
            <a:r>
              <a:rPr sz="953" b="1">
                <a:solidFill>
                  <a:srgbClr val="333333"/>
                </a:solidFill>
              </a:rPr>
              <a:t>약 49만</a:t>
            </a:r>
          </a:p>
        </p:txBody>
      </p:sp>
      <p:sp>
        <p:nvSpPr>
          <p:cNvPr id="45" name="table-r3-c2">
            <a:extLst xmlns:a="http://schemas.openxmlformats.org/drawingml/2006/main">
              <a:ext uri="{FF2B5EF4-FFF2-40B4-BE49-F238E27FC236}">
                <a16:creationId xmlns:a16="http://schemas.microsoft.com/office/drawing/2014/main" id="{BDBF9488-7408-4C3F-9E35-5DC33E92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5438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6" name="table-r3-c3">
            <a:extLst xmlns:a="http://schemas.openxmlformats.org/drawingml/2006/main">
              <a:ext uri="{FF2B5EF4-FFF2-40B4-BE49-F238E27FC236}">
                <a16:creationId xmlns:a16="http://schemas.microsoft.com/office/drawing/2014/main" id="{3DA6364C-FBDF-4E86-8218-C40274BB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5438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333333"/>
                </a:solidFill>
              </a:defRPr>
            </a:pPr>
            <a:r>
              <a:rPr sz="953" b="1">
                <a:solidFill>
                  <a:srgbClr val="333333"/>
                </a:solidFill>
              </a:rPr>
              <a:t>B2B TAM — 기업 고용·비자 관리 대상</a:t>
            </a:r>
          </a:p>
        </p:txBody>
      </p:sp>
      <p:sp>
        <p:nvSpPr>
          <p:cNvPr id="47" name="table-row-line-4">
            <a:extLst xmlns:a="http://schemas.openxmlformats.org/drawingml/2006/main">
              <a:ext uri="{FF2B5EF4-FFF2-40B4-BE49-F238E27FC236}">
                <a16:creationId xmlns:a16="http://schemas.microsoft.com/office/drawing/2014/main" id="{B19CA141-D511-42E9-843F-128F9B56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8197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ble-r4-c0">
            <a:extLst xmlns:a="http://schemas.openxmlformats.org/drawingml/2006/main">
              <a:ext uri="{FF2B5EF4-FFF2-40B4-BE49-F238E27FC236}">
                <a16:creationId xmlns:a16="http://schemas.microsoft.com/office/drawing/2014/main" id="{5DDB77D4-3DB8-4C8A-B79B-0F1CE0B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   그중 E-9 비전문취업</a:t>
            </a:r>
          </a:p>
        </p:txBody>
      </p:sp>
      <p:sp>
        <p:nvSpPr>
          <p:cNvPr id="49" name="table-r4-c1">
            <a:extLst xmlns:a="http://schemas.openxmlformats.org/drawingml/2006/main">
              <a:ext uri="{FF2B5EF4-FFF2-40B4-BE49-F238E27FC236}">
                <a16:creationId xmlns:a16="http://schemas.microsoft.com/office/drawing/2014/main" id="{1CCAEFF4-C5AC-4125-A715-896DA33B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905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약 30.2만</a:t>
            </a:r>
          </a:p>
        </p:txBody>
      </p:sp>
      <p:sp>
        <p:nvSpPr>
          <p:cNvPr id="50" name="table-r4-c2">
            <a:extLst xmlns:a="http://schemas.openxmlformats.org/drawingml/2006/main">
              <a:ext uri="{FF2B5EF4-FFF2-40B4-BE49-F238E27FC236}">
                <a16:creationId xmlns:a16="http://schemas.microsoft.com/office/drawing/2014/main" id="{CB7266B5-7DDD-45F3-A567-D3991A86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9057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51" name="table-r4-c3">
            <a:extLst xmlns:a="http://schemas.openxmlformats.org/drawingml/2006/main">
              <a:ext uri="{FF2B5EF4-FFF2-40B4-BE49-F238E27FC236}">
                <a16:creationId xmlns:a16="http://schemas.microsoft.com/office/drawing/2014/main" id="{6DFF358D-B9B3-4BCF-8404-AE8F2FFC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9057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광·제조업 80%+ (저숙련, 신규 둔화)</a:t>
            </a:r>
          </a:p>
        </p:txBody>
      </p:sp>
      <p:sp>
        <p:nvSpPr>
          <p:cNvPr id="52" name="table-row-line-5">
            <a:extLst xmlns:a="http://schemas.openxmlformats.org/drawingml/2006/main">
              <a:ext uri="{FF2B5EF4-FFF2-40B4-BE49-F238E27FC236}">
                <a16:creationId xmlns:a16="http://schemas.microsoft.com/office/drawing/2014/main" id="{89B77345-A125-445E-98DB-E7611C67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4392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able-r5-c0">
            <a:extLst xmlns:a="http://schemas.openxmlformats.org/drawingml/2006/main">
              <a:ext uri="{FF2B5EF4-FFF2-40B4-BE49-F238E27FC236}">
                <a16:creationId xmlns:a16="http://schemas.microsoft.com/office/drawing/2014/main" id="{20D9CBEF-BEB6-4337-837A-AFACA9BF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6770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유학 (D-2 등)</a:t>
            </a:r>
          </a:p>
        </p:txBody>
      </p:sp>
      <p:sp>
        <p:nvSpPr>
          <p:cNvPr id="54" name="table-r5-c1">
            <a:extLst xmlns:a="http://schemas.openxmlformats.org/drawingml/2006/main">
              <a:ext uri="{FF2B5EF4-FFF2-40B4-BE49-F238E27FC236}">
                <a16:creationId xmlns:a16="http://schemas.microsoft.com/office/drawing/2014/main" id="{0B8E430E-8808-4F55-BD66-ACFEB9D1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8267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30.9만</a:t>
            </a:r>
          </a:p>
        </p:txBody>
      </p:sp>
      <p:sp>
        <p:nvSpPr>
          <p:cNvPr id="55" name="table-r5-c2">
            <a:extLst xmlns:a="http://schemas.openxmlformats.org/drawingml/2006/main">
              <a:ext uri="{FF2B5EF4-FFF2-40B4-BE49-F238E27FC236}">
                <a16:creationId xmlns:a16="http://schemas.microsoft.com/office/drawing/2014/main" id="{1BBB6681-366B-4E52-B687-8C909BC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2677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+17.1%</a:t>
            </a:r>
          </a:p>
        </p:txBody>
      </p:sp>
      <p:sp>
        <p:nvSpPr>
          <p:cNvPr id="56" name="table-r5-c3">
            <a:extLst xmlns:a="http://schemas.openxmlformats.org/drawingml/2006/main">
              <a:ext uri="{FF2B5EF4-FFF2-40B4-BE49-F238E27FC236}">
                <a16:creationId xmlns:a16="http://schemas.microsoft.com/office/drawing/2014/main" id="{8761B165-D365-42DA-A772-61AC0759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82677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정주·금융 신규 고객층 (증가 1위)</a:t>
            </a:r>
          </a:p>
        </p:txBody>
      </p:sp>
      <p:sp>
        <p:nvSpPr>
          <p:cNvPr id="57" name="table-row-line-6">
            <a:extLst xmlns:a="http://schemas.openxmlformats.org/drawingml/2006/main">
              <a:ext uri="{FF2B5EF4-FFF2-40B4-BE49-F238E27FC236}">
                <a16:creationId xmlns:a16="http://schemas.microsoft.com/office/drawing/2014/main" id="{8F7FF180-C707-4B3D-AD43-AF72D3F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0587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ble-r6-c0">
            <a:extLst xmlns:a="http://schemas.openxmlformats.org/drawingml/2006/main">
              <a:ext uri="{FF2B5EF4-FFF2-40B4-BE49-F238E27FC236}">
                <a16:creationId xmlns:a16="http://schemas.microsoft.com/office/drawing/2014/main" id="{FD1A351D-8E7B-4399-8C3D-A82AEAFB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영주 (F-5)</a:t>
            </a:r>
          </a:p>
        </p:txBody>
      </p:sp>
      <p:sp>
        <p:nvSpPr>
          <p:cNvPr id="59" name="table-r6-c1">
            <a:extLst xmlns:a="http://schemas.openxmlformats.org/drawingml/2006/main">
              <a:ext uri="{FF2B5EF4-FFF2-40B4-BE49-F238E27FC236}">
                <a16:creationId xmlns:a16="http://schemas.microsoft.com/office/drawing/2014/main" id="{29FA6CE8-65B8-4072-923C-A26A667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8629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22.1만</a:t>
            </a:r>
          </a:p>
        </p:txBody>
      </p:sp>
      <p:sp>
        <p:nvSpPr>
          <p:cNvPr id="60" name="table-r6-c2">
            <a:extLst xmlns:a="http://schemas.openxmlformats.org/drawingml/2006/main">
              <a:ext uri="{FF2B5EF4-FFF2-40B4-BE49-F238E27FC236}">
                <a16:creationId xmlns:a16="http://schemas.microsoft.com/office/drawing/2014/main" id="{7B0388E8-9443-4D31-BCB8-41890CB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6296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+8.9%</a:t>
            </a:r>
          </a:p>
        </p:txBody>
      </p:sp>
      <p:sp>
        <p:nvSpPr>
          <p:cNvPr id="61" name="table-r6-c3">
            <a:extLst xmlns:a="http://schemas.openxmlformats.org/drawingml/2006/main">
              <a:ext uri="{FF2B5EF4-FFF2-40B4-BE49-F238E27FC236}">
                <a16:creationId xmlns:a16="http://schemas.microsoft.com/office/drawing/2014/main" id="{55985653-10F1-4827-9D12-E16D1E4D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86296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3333"/>
                </a:solidFill>
              </a:defRPr>
            </a:pPr>
            <a:r>
              <a:rPr sz="953" b="0">
                <a:solidFill>
                  <a:srgbClr val="333333"/>
                </a:solidFill>
              </a:rPr>
              <a:t>정착·소비·금융 핵심층</a:t>
            </a:r>
          </a:p>
        </p:txBody>
      </p:sp>
      <p:sp>
        <p:nvSpPr>
          <p:cNvPr id="62" name="table-note">
            <a:extLst xmlns:a="http://schemas.openxmlformats.org/drawingml/2006/main">
              <a:ext uri="{FF2B5EF4-FFF2-40B4-BE49-F238E27FC236}">
                <a16:creationId xmlns:a16="http://schemas.microsoft.com/office/drawing/2014/main" id="{422E9290-B855-4C08-B560-CA09FD3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34450"/>
            <a:ext cx="720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주: B2B의 49만은 ‘기업 수’가 아니라 E계열 취업 외국인 ‘근로자 풀’입니다. 따라서 B2B 시장은 사업장(社), B2C 시장은 사람(名)으로 분리해 관리합니다. 취업자격 59.4만과 B2B TAM 49만은 정의가 다른 별개 수치입니다.</a:t>
            </a:r>
          </a:p>
        </p:txBody>
      </p:sp>
      <p:sp>
        <p:nvSpPr>
          <p:cNvPr id="63" name="callout">
            <a:extLst xmlns:a="http://schemas.openxmlformats.org/drawingml/2006/main">
              <a:ext uri="{FF2B5EF4-FFF2-40B4-BE49-F238E27FC236}">
                <a16:creationId xmlns:a16="http://schemas.microsoft.com/office/drawing/2014/main" id="{6D9D34C5-91D6-401E-99E8-C8E14F31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0"/>
            <a:ext cx="7200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FE4FA"/>
            </a:solidFill>
            <a:prstDash val="solid"/>
          </a:ln>
        </p:spPr>
      </p:sp>
      <p:sp>
        <p:nvSpPr>
          <p:cNvPr id="64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757FC3EE-2E02-4091-AAF0-1D91740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82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</a:defRPr>
            </a:pPr>
            <a:r>
              <a:rPr sz="1050" b="1">
                <a:solidFill>
                  <a:srgbClr val="1D1D1F"/>
                </a:solidFill>
              </a:rPr>
              <a:t>시장의 ‘양’이 아니라 ‘질’이 우리 편 — 반복 수요로의 전환</a:t>
            </a:r>
          </a:p>
        </p:txBody>
      </p:sp>
      <p:sp>
        <p:nvSpPr>
          <p:cNvPr id="65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08231FA8-F0E2-48C4-BD49-9132183E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488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3333"/>
                </a:solidFill>
              </a:defRPr>
            </a:pPr>
            <a:r>
              <a:rPr sz="990" b="0">
                <a:solidFill>
                  <a:srgbClr val="333333"/>
                </a:solidFill>
              </a:rPr>
              <a:t>E-9 신규 쿼터는 줄어도, 숙련전환·계절근로·정주는 늘어납니다. 체류 갱신·자격 변경·임금 점검·환급이 매년 반복되는 시장으로 이동합니다.</a:t>
            </a:r>
          </a:p>
        </p:txBody>
      </p:sp>
      <p:sp>
        <p:nvSpPr>
          <p:cNvPr id="66" name="source-line">
            <a:extLst xmlns:a="http://schemas.openxmlformats.org/drawingml/2006/main">
              <a:ext uri="{FF2B5EF4-FFF2-40B4-BE49-F238E27FC236}">
                <a16:creationId xmlns:a16="http://schemas.microsoft.com/office/drawing/2014/main" id="{3852CDD6-AC01-45DA-B578-8BCB9030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0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96E690C-0634-4600-B44C-3CD7A3D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96600"/>
            <a:ext cx="720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7A7A7A"/>
                </a:solidFill>
              </a:defRPr>
            </a:pPr>
            <a:r>
              <a:rPr sz="810" b="0">
                <a:solidFill>
                  <a:srgbClr val="7A7A7A"/>
                </a:solidFill>
              </a:rPr>
              <a:t>출처: 법무부 「’25.12 출입국·외국인정책 통계월보」; 장기체류 216.06만 분해; E-9 약 30.2만. TAM 정의: B2B=E계열 체류외국인, B2C=전체 장기체류외국인.</a:t>
            </a:r>
          </a:p>
        </p:txBody>
      </p:sp>
    </p:spTree>
    <p:extLst>
      <p:ext uri="{BB962C8B-B14F-4D97-AF65-F5344CB8AC3E}">
        <p14:creationId xmlns:p14="http://schemas.microsoft.com/office/powerpoint/2010/main" val="1255224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CF4B28-7713-4149-8D06-9FCA05D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3 / 3 · 시장분석 ②</a:t>
            </a:r>
          </a:p>
        </p:txBody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DF2329B-5D74-46A5-8C3A-DE697E5A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6CC"/>
                </a:solidFill>
              </a:defRPr>
            </a:pPr>
            <a:r>
              <a:rPr sz="938" b="1">
                <a:solidFill>
                  <a:srgbClr val="0066CC"/>
                </a:solidFill>
              </a:rPr>
              <a:t>OPPORTUNITY · 우리가 들어갈 자리</a:t>
            </a:r>
          </a:p>
        </p:txBody>
      </p:sp>
      <p:sp>
        <p:nvSpPr>
          <p:cNvPr id="3" name="title-s3-a">
            <a:extLst xmlns:a="http://schemas.openxmlformats.org/drawingml/2006/main">
              <a:ext uri="{FF2B5EF4-FFF2-40B4-BE49-F238E27FC236}">
                <a16:creationId xmlns:a16="http://schemas.microsoft.com/office/drawing/2014/main" id="{139A84C1-C595-47EE-8AA6-3BB9953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D1F"/>
                </a:solidFill>
              </a:defRPr>
            </a:pPr>
            <a:r>
              <a:rPr sz="2475" b="1">
                <a:solidFill>
                  <a:srgbClr val="1D1D1F"/>
                </a:solidFill>
              </a:rPr>
              <a:t>‘채용 이후’를</a:t>
            </a:r>
          </a:p>
        </p:txBody>
      </p:sp>
      <p:sp>
        <p:nvSpPr>
          <p:cNvPr id="4" name="title-s3-b">
            <a:extLst xmlns:a="http://schemas.openxmlformats.org/drawingml/2006/main">
              <a:ext uri="{FF2B5EF4-FFF2-40B4-BE49-F238E27FC236}">
                <a16:creationId xmlns:a16="http://schemas.microsoft.com/office/drawing/2014/main" id="{774FC8DE-D5C8-4582-9E37-686B2368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066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66CC"/>
                </a:solidFill>
              </a:defRPr>
            </a:pPr>
            <a:r>
              <a:rPr sz="2475" b="1">
                <a:solidFill>
                  <a:srgbClr val="0066CC"/>
                </a:solidFill>
              </a:rPr>
              <a:t>양면(B2B+B2C)으로</a:t>
            </a:r>
          </a:p>
        </p:txBody>
      </p:sp>
      <p:sp>
        <p:nvSpPr>
          <p:cNvPr id="5" name="title-s3-c">
            <a:extLst xmlns:a="http://schemas.openxmlformats.org/drawingml/2006/main">
              <a:ext uri="{FF2B5EF4-FFF2-40B4-BE49-F238E27FC236}">
                <a16:creationId xmlns:a16="http://schemas.microsoft.com/office/drawing/2014/main" id="{5C050256-2C49-4EB0-BC59-02C130A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1D1F"/>
                </a:solidFill>
              </a:defRPr>
            </a:pPr>
            <a:r>
              <a:rPr sz="2475" b="1">
                <a:solidFill>
                  <a:srgbClr val="1D1D1F"/>
                </a:solidFill>
              </a:rPr>
              <a:t>독점하는 공백.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457F2B8-8F04-4D99-8FF8-0A787836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33333"/>
                </a:solidFill>
              </a:defRPr>
            </a:pPr>
            <a:r>
              <a:rPr sz="1238" b="0">
                <a:solidFill>
                  <a:srgbClr val="333333"/>
                </a:solidFill>
              </a:rPr>
              <a:t>기업의 고용 준법(VisaDesk)과 근로자의 환급·금융(Moneeback)을 하나의 인증 인프라(ForeignID)와 데이터 위에 묶어, 경쟁사가 비어 둔 자리를 선점합니다.</a:t>
            </a:r>
          </a:p>
        </p:txBody>
      </p:sp>
      <p:sp>
        <p:nvSpPr>
          <p:cNvPr id="7" name="right-to-win-box">
            <a:extLst xmlns:a="http://schemas.openxmlformats.org/drawingml/2006/main">
              <a:ext uri="{FF2B5EF4-FFF2-40B4-BE49-F238E27FC236}">
                <a16:creationId xmlns:a16="http://schemas.microsoft.com/office/drawing/2014/main" id="{0A898225-42AA-4E74-86CB-FC5F5DAC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3429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right-to-win-title">
            <a:extLst xmlns:a="http://schemas.openxmlformats.org/drawingml/2006/main">
              <a:ext uri="{FF2B5EF4-FFF2-40B4-BE49-F238E27FC236}">
                <a16:creationId xmlns:a16="http://schemas.microsoft.com/office/drawing/2014/main" id="{E4D1994C-575F-4169-8EA4-C4E5336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</a:defRPr>
            </a:pPr>
            <a:r>
              <a:rPr sz="1125" b="1">
                <a:solidFill>
                  <a:srgbClr val="1D1D1F"/>
                </a:solidFill>
              </a:rPr>
              <a:t>왜 PlugNX가 이기는가 (Right-to-win)</a:t>
            </a:r>
          </a:p>
        </p:txBody>
      </p:sp>
      <p:sp>
        <p:nvSpPr>
          <p:cNvPr id="9" name="right-to-win-body">
            <a:extLst xmlns:a="http://schemas.openxmlformats.org/drawingml/2006/main">
              <a:ext uri="{FF2B5EF4-FFF2-40B4-BE49-F238E27FC236}">
                <a16:creationId xmlns:a16="http://schemas.microsoft.com/office/drawing/2014/main" id="{2A4F8C8E-B290-48F4-95E1-D194C41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3086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• 양면 네트워크 — 기업 등록 → 근로자 자동 유입(전환 60%+, CAC 0)</a:t>
            </a:r>
          </a:p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• 고용 + 금융 데이터 결합 = 외국인 대체 신용스코어의 길목</a:t>
            </a:r>
          </a:p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• 정책 정합 — K-Trust·임금자문위·비자 단순화에 직접 연결</a:t>
            </a:r>
          </a:p>
          <a:p xmlns:a="http://schemas.openxmlformats.org/drawingml/2006/main">
            <a:pPr algn="l">
              <a:defRPr sz="960" b="0">
                <a:solidFill>
                  <a:srgbClr val="333333"/>
                </a:solidFill>
              </a:defRPr>
            </a:pPr>
            <a:r>
              <a:rPr sz="960" b="0">
                <a:solidFill>
                  <a:srgbClr val="333333"/>
                </a:solidFill>
              </a:rPr>
              <a:t>• 전환비용·전문가 네트워크 — 행정사·변호사 연계로 단순 중개와 차별화</a:t>
            </a:r>
          </a:p>
        </p:txBody>
      </p:sp>
      <p:sp>
        <p:nvSpPr>
          <p:cNvPr id="10" name="competitive-gap-box">
            <a:extLst xmlns:a="http://schemas.openxmlformats.org/drawingml/2006/main">
              <a:ext uri="{FF2B5EF4-FFF2-40B4-BE49-F238E27FC236}">
                <a16:creationId xmlns:a16="http://schemas.microsoft.com/office/drawing/2014/main" id="{D7D7851E-529E-4F18-890A-0C6BF658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429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9525">
            <a:solidFill>
              <a:srgbClr val="1D1D1F"/>
            </a:solidFill>
            <a:prstDash val="solid"/>
          </a:ln>
        </p:spPr>
      </p:sp>
      <p:sp>
        <p:nvSpPr>
          <p:cNvPr id="11" name="competitive-gap-title">
            <a:extLst xmlns:a="http://schemas.openxmlformats.org/drawingml/2006/main">
              <a:ext uri="{FF2B5EF4-FFF2-40B4-BE49-F238E27FC236}">
                <a16:creationId xmlns:a16="http://schemas.microsoft.com/office/drawing/2014/main" id="{5034AB8C-790A-4D5F-9363-D073572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7657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경쟁 공백 (’26.6 검증)</a:t>
            </a:r>
          </a:p>
        </p:txBody>
      </p:sp>
      <p:sp>
        <p:nvSpPr>
          <p:cNvPr id="12" name="competitive-gap-body">
            <a:extLst xmlns:a="http://schemas.openxmlformats.org/drawingml/2006/main">
              <a:ext uri="{FF2B5EF4-FFF2-40B4-BE49-F238E27FC236}">
                <a16:creationId xmlns:a16="http://schemas.microsoft.com/office/drawing/2014/main" id="{731F0884-BE86-4CB2-84F6-86C774E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19475"/>
            <a:ext cx="3086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8D8DC"/>
                </a:solidFill>
              </a:defRPr>
            </a:pPr>
            <a:r>
              <a:rPr sz="960" b="0">
                <a:solidFill>
                  <a:srgbClr val="D8D8DC"/>
                </a:solidFill>
              </a:rPr>
              <a:t>• 클링커즈(glow)는 B2C 금융 슈퍼앱·대출중개 지향 — 환급 미진출</a:t>
            </a:r>
          </a:p>
          <a:p xmlns:a="http://schemas.openxmlformats.org/drawingml/2006/main">
            <a:pPr algn="l">
              <a:defRPr sz="960" b="0">
                <a:solidFill>
                  <a:srgbClr val="D8D8DC"/>
                </a:solidFill>
              </a:defRPr>
            </a:pPr>
            <a:r>
              <a:rPr sz="960" b="0">
                <a:solidFill>
                  <a:srgbClr val="D8D8DC"/>
                </a:solidFill>
              </a:rPr>
              <a:t>• 자체 본인인증·B2B 고용데이터 미보유 → 양면 결합 불가</a:t>
            </a:r>
          </a:p>
          <a:p xmlns:a="http://schemas.openxmlformats.org/drawingml/2006/main">
            <a:pPr algn="l">
              <a:defRPr sz="960" b="0">
                <a:solidFill>
                  <a:srgbClr val="D8D8DC"/>
                </a:solidFill>
              </a:defRPr>
            </a:pPr>
            <a:r>
              <a:rPr sz="960" b="0">
                <a:solidFill>
                  <a:srgbClr val="D8D8DC"/>
                </a:solidFill>
              </a:rPr>
              <a:t>• vivisa×클링커즈 동맹은 신용스코어 길목 경쟁 신호</a:t>
            </a:r>
          </a:p>
          <a:p xmlns:a="http://schemas.openxmlformats.org/drawingml/2006/main">
            <a:pPr algn="l">
              <a:defRPr sz="960" b="0">
                <a:solidFill>
                  <a:srgbClr val="D8D8DC"/>
                </a:solidFill>
              </a:defRPr>
            </a:pPr>
            <a:r>
              <a:rPr sz="960" b="0">
                <a:solidFill>
                  <a:srgbClr val="D8D8DC"/>
                </a:solidFill>
              </a:rPr>
              <a:t>• B2B 준법 + B2C 환급 + 인증을 동시에 쥔 플레이어는 아직 공백</a:t>
            </a:r>
          </a:p>
        </p:txBody>
      </p:sp>
      <p:sp>
        <p:nvSpPr>
          <p:cNvPr id="13" name="flow-title">
            <a:extLst xmlns:a="http://schemas.openxmlformats.org/drawingml/2006/main">
              <a:ext uri="{FF2B5EF4-FFF2-40B4-BE49-F238E27FC236}">
                <a16:creationId xmlns:a16="http://schemas.microsoft.com/office/drawing/2014/main" id="{DC68B2C6-EC8D-458A-B16C-1CB148E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B2B2C 플라이휠 — 한 번 들어가면 양쪽이 서로를 키운다</a:t>
            </a:r>
          </a:p>
        </p:txBody>
      </p:sp>
      <p:sp>
        <p:nvSpPr>
          <p:cNvPr id="14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93A5EF5-36C2-4F4F-9E60-05704877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flow-node-text-1">
            <a:extLst xmlns:a="http://schemas.openxmlformats.org/drawingml/2006/main">
              <a:ext uri="{FF2B5EF4-FFF2-40B4-BE49-F238E27FC236}">
                <a16:creationId xmlns:a16="http://schemas.microsoft.com/office/drawing/2014/main" id="{E635DCEA-8EF7-42A1-AF4C-23A1760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1D1F"/>
                </a:solidFill>
              </a:defRPr>
            </a:pPr>
            <a:r>
              <a:rPr sz="863" b="1">
                <a:solidFill>
                  <a:srgbClr val="1D1D1F"/>
                </a:solidFill>
              </a:rPr>
              <a:t>기업이 근로자 등록</a:t>
            </a:r>
          </a:p>
        </p:txBody>
      </p:sp>
      <p:sp>
        <p:nvSpPr>
          <p:cNvPr id="1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6B36064-49D3-4CE6-8E33-61412A9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67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</a:defRPr>
            </a:pPr>
            <a:r>
              <a:rPr sz="1050" b="1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1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4008EF6-DFE3-45A7-A527-82614550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102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flow-node-text-2">
            <a:extLst xmlns:a="http://schemas.openxmlformats.org/drawingml/2006/main">
              <a:ext uri="{FF2B5EF4-FFF2-40B4-BE49-F238E27FC236}">
                <a16:creationId xmlns:a16="http://schemas.microsoft.com/office/drawing/2014/main" id="{4DEC07D5-B515-4CB4-BE84-7F494E9D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864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1D1F"/>
                </a:solidFill>
              </a:defRPr>
            </a:pPr>
            <a:r>
              <a:rPr sz="863" b="1">
                <a:solidFill>
                  <a:srgbClr val="1D1D1F"/>
                </a:solidFill>
              </a:rPr>
              <a:t>근로자 Moneeback 자동 유입</a:t>
            </a:r>
          </a:p>
        </p:txBody>
      </p:sp>
      <p:sp>
        <p:nvSpPr>
          <p:cNvPr id="1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EF66A41-B968-471C-B8A6-32CAA61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867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</a:defRPr>
            </a:pPr>
            <a:r>
              <a:rPr sz="1050" b="1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E10E8D51-D063-41BE-8573-E2FAFBB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0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flow-node-text-3">
            <a:extLst xmlns:a="http://schemas.openxmlformats.org/drawingml/2006/main">
              <a:ext uri="{FF2B5EF4-FFF2-40B4-BE49-F238E27FC236}">
                <a16:creationId xmlns:a16="http://schemas.microsoft.com/office/drawing/2014/main" id="{543BCF0D-9840-4E72-9D1E-E859FD5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864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1D1F"/>
                </a:solidFill>
              </a:defRPr>
            </a:pPr>
            <a:r>
              <a:rPr sz="863" b="1">
                <a:solidFill>
                  <a:srgbClr val="1D1D1F"/>
                </a:solidFill>
              </a:rPr>
              <a:t>B2C 환급·금융 만족</a:t>
            </a:r>
          </a:p>
        </p:txBody>
      </p:sp>
      <p:sp>
        <p:nvSpPr>
          <p:cNvPr id="22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8CC64563-A72E-45BE-8AAE-F80AA1F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867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</a:defRPr>
            </a:pPr>
            <a:r>
              <a:rPr sz="1050" b="1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23" name="flow-node-4">
            <a:extLst xmlns:a="http://schemas.openxmlformats.org/drawingml/2006/main">
              <a:ext uri="{FF2B5EF4-FFF2-40B4-BE49-F238E27FC236}">
                <a16:creationId xmlns:a16="http://schemas.microsoft.com/office/drawing/2014/main" id="{FAE336E0-D77E-47DF-9271-859F7EB4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102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flow-node-text-4">
            <a:extLst xmlns:a="http://schemas.openxmlformats.org/drawingml/2006/main">
              <a:ext uri="{FF2B5EF4-FFF2-40B4-BE49-F238E27FC236}">
                <a16:creationId xmlns:a16="http://schemas.microsoft.com/office/drawing/2014/main" id="{62A0CE9B-130C-4351-8170-E9487323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86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1D1F"/>
                </a:solidFill>
              </a:defRPr>
            </a:pPr>
            <a:r>
              <a:rPr sz="863" b="1">
                <a:solidFill>
                  <a:srgbClr val="1D1D1F"/>
                </a:solidFill>
              </a:rPr>
              <a:t>기업 근속률 ↑</a:t>
            </a:r>
          </a:p>
        </p:txBody>
      </p:sp>
      <p:sp>
        <p:nvSpPr>
          <p:cNvPr id="25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503BCF70-3F08-4435-9394-AAD7729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67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</a:defRPr>
            </a:pPr>
            <a:r>
              <a:rPr sz="1050" b="1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26" name="flow-node-5">
            <a:extLst xmlns:a="http://schemas.openxmlformats.org/drawingml/2006/main">
              <a:ext uri="{FF2B5EF4-FFF2-40B4-BE49-F238E27FC236}">
                <a16:creationId xmlns:a16="http://schemas.microsoft.com/office/drawing/2014/main" id="{2302F145-2D07-4C29-9917-A7C9495F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flow-node-text-5">
            <a:extLst xmlns:a="http://schemas.openxmlformats.org/drawingml/2006/main">
              <a:ext uri="{FF2B5EF4-FFF2-40B4-BE49-F238E27FC236}">
                <a16:creationId xmlns:a16="http://schemas.microsoft.com/office/drawing/2014/main" id="{2ACEF349-913F-42BD-AF2A-6C05152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1D1F"/>
                </a:solidFill>
              </a:defRPr>
            </a:pPr>
            <a:r>
              <a:rPr sz="863" b="1">
                <a:solidFill>
                  <a:srgbClr val="1D1D1F"/>
                </a:solidFill>
              </a:rPr>
              <a:t>B2B 유지·확장</a:t>
            </a:r>
          </a:p>
        </p:txBody>
      </p:sp>
      <p:sp>
        <p:nvSpPr>
          <p:cNvPr id="2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FE0267A-AD4E-4A26-980A-4426C1ED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10375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oals-title">
            <a:extLst xmlns:a="http://schemas.openxmlformats.org/drawingml/2006/main">
              <a:ext uri="{FF2B5EF4-FFF2-40B4-BE49-F238E27FC236}">
                <a16:creationId xmlns:a16="http://schemas.microsoft.com/office/drawing/2014/main" id="{0183B1D2-E766-4498-ADCB-A15B9E09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목표 (가정 기반 · 확정 실적 아님)</a:t>
            </a:r>
          </a:p>
        </p:txBody>
      </p:sp>
      <p:sp>
        <p:nvSpPr>
          <p:cNvPr id="30" name="goal-card-1">
            <a:extLst xmlns:a="http://schemas.openxmlformats.org/drawingml/2006/main">
              <a:ext uri="{FF2B5EF4-FFF2-40B4-BE49-F238E27FC236}">
                <a16:creationId xmlns:a16="http://schemas.microsoft.com/office/drawing/2014/main" id="{9B065480-33F3-4D57-BE52-5EEE530D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0"/>
            <a:ext cx="169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062A8243-8F43-4D3C-ACF1-000496E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600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8주 15사</a:t>
            </a:r>
          </a:p>
        </p:txBody>
      </p:sp>
      <p:sp>
        <p:nvSpPr>
          <p:cNvPr id="32" name="goal-label-1">
            <a:extLst xmlns:a="http://schemas.openxmlformats.org/drawingml/2006/main">
              <a:ext uri="{FF2B5EF4-FFF2-40B4-BE49-F238E27FC236}">
                <a16:creationId xmlns:a16="http://schemas.microsoft.com/office/drawing/2014/main" id="{83006398-014A-4EC2-9D9F-31D92A0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53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PoC · 3,300만원</a:t>
            </a:r>
          </a:p>
        </p:txBody>
      </p:sp>
      <p:sp>
        <p:nvSpPr>
          <p:cNvPr id="33" name="goal-card-2">
            <a:extLst xmlns:a="http://schemas.openxmlformats.org/drawingml/2006/main">
              <a:ext uri="{FF2B5EF4-FFF2-40B4-BE49-F238E27FC236}">
                <a16:creationId xmlns:a16="http://schemas.microsoft.com/office/drawing/2014/main" id="{14F5C9A3-C40B-47CD-989D-5043646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429500"/>
            <a:ext cx="169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EB058735-54D0-4163-BBF7-B353CB27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600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21억</a:t>
            </a:r>
          </a:p>
        </p:txBody>
      </p:sp>
      <p:sp>
        <p:nvSpPr>
          <p:cNvPr id="35" name="goal-label-2">
            <a:extLst xmlns:a="http://schemas.openxmlformats.org/drawingml/2006/main">
              <a:ext uri="{FF2B5EF4-FFF2-40B4-BE49-F238E27FC236}">
                <a16:creationId xmlns:a16="http://schemas.microsoft.com/office/drawing/2014/main" id="{7C67EF57-274E-4D0F-BF00-F84F099E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953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12개월 ARR · 100사</a:t>
            </a:r>
          </a:p>
        </p:txBody>
      </p:sp>
      <p:sp>
        <p:nvSpPr>
          <p:cNvPr id="36" name="goal-card-3">
            <a:extLst xmlns:a="http://schemas.openxmlformats.org/drawingml/2006/main">
              <a:ext uri="{FF2B5EF4-FFF2-40B4-BE49-F238E27FC236}">
                <a16:creationId xmlns:a16="http://schemas.microsoft.com/office/drawing/2014/main" id="{2A18075A-0BAA-4D47-A5F3-73B29479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0"/>
            <a:ext cx="169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goal-title-3">
            <a:extLst xmlns:a="http://schemas.openxmlformats.org/drawingml/2006/main">
              <a:ext uri="{FF2B5EF4-FFF2-40B4-BE49-F238E27FC236}">
                <a16:creationId xmlns:a16="http://schemas.microsoft.com/office/drawing/2014/main" id="{2EA46755-A603-4E21-97C2-7D08A09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600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60억</a:t>
            </a:r>
          </a:p>
        </p:txBody>
      </p:sp>
      <p:sp>
        <p:nvSpPr>
          <p:cNvPr id="38" name="goal-label-3">
            <a:extLst xmlns:a="http://schemas.openxmlformats.org/drawingml/2006/main">
              <a:ext uri="{FF2B5EF4-FFF2-40B4-BE49-F238E27FC236}">
                <a16:creationId xmlns:a16="http://schemas.microsoft.com/office/drawing/2014/main" id="{9BE8B1B1-B5FB-4B71-8A24-56D2707F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953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24개월 ARR · 300사</a:t>
            </a:r>
          </a:p>
        </p:txBody>
      </p:sp>
      <p:sp>
        <p:nvSpPr>
          <p:cNvPr id="39" name="goal-card-4">
            <a:extLst xmlns:a="http://schemas.openxmlformats.org/drawingml/2006/main">
              <a:ext uri="{FF2B5EF4-FFF2-40B4-BE49-F238E27FC236}">
                <a16:creationId xmlns:a16="http://schemas.microsoft.com/office/drawing/2014/main" id="{501D421E-77B5-43C8-888C-87FE196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7429500"/>
            <a:ext cx="1695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0" name="goal-title-4">
            <a:extLst xmlns:a="http://schemas.openxmlformats.org/drawingml/2006/main">
              <a:ext uri="{FF2B5EF4-FFF2-40B4-BE49-F238E27FC236}">
                <a16:creationId xmlns:a16="http://schemas.microsoft.com/office/drawing/2014/main" id="{F14B50A9-FF41-42BF-91F4-F1D945F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600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29·89·169</a:t>
            </a:r>
          </a:p>
        </p:txBody>
      </p:sp>
      <p:sp>
        <p:nvSpPr>
          <p:cNvPr id="41" name="goal-label-4">
            <a:extLst xmlns:a="http://schemas.openxmlformats.org/drawingml/2006/main">
              <a:ext uri="{FF2B5EF4-FFF2-40B4-BE49-F238E27FC236}">
                <a16:creationId xmlns:a16="http://schemas.microsoft.com/office/drawing/2014/main" id="{3FB9BB2F-C853-453C-97F9-2920000C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953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월 요금(만원)</a:t>
            </a:r>
          </a:p>
          <a:p xmlns:a="http://schemas.openxmlformats.org/drawingml/2006/main">
            <a:pPr algn="l">
              <a:defRPr sz="863" b="0">
                <a:solidFill>
                  <a:srgbClr val="7A7A7A"/>
                </a:solidFill>
              </a:defRPr>
            </a:pPr>
            <a:r>
              <a:rPr sz="863" b="0">
                <a:solidFill>
                  <a:srgbClr val="7A7A7A"/>
                </a:solidFill>
              </a:rPr>
              <a:t>Starter/Growth/Compliance</a:t>
            </a:r>
          </a:p>
        </p:txBody>
      </p:sp>
      <p:sp>
        <p:nvSpPr>
          <p:cNvPr id="42" name="callout">
            <a:extLst xmlns:a="http://schemas.openxmlformats.org/drawingml/2006/main">
              <a:ext uri="{FF2B5EF4-FFF2-40B4-BE49-F238E27FC236}">
                <a16:creationId xmlns:a16="http://schemas.microsoft.com/office/drawing/2014/main" id="{2DE1D646-6BD6-4918-B155-1ADB827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15375"/>
            <a:ext cx="7200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FE4FA"/>
            </a:solidFill>
            <a:prstDash val="solid"/>
          </a:ln>
        </p:spPr>
      </p:sp>
      <p:sp>
        <p:nvSpPr>
          <p:cNvPr id="43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515784E4-443F-4B6E-9B51-ECFAB36F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8773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</a:defRPr>
            </a:pPr>
            <a:r>
              <a:rPr sz="1050" b="1">
                <a:solidFill>
                  <a:srgbClr val="1D1D1F"/>
                </a:solidFill>
              </a:rPr>
              <a:t>한 문장 결론</a:t>
            </a:r>
          </a:p>
        </p:txBody>
      </p:sp>
      <p:sp>
        <p:nvSpPr>
          <p:cNvPr id="44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2F14C88B-00E5-4649-91A2-229AC18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3333"/>
                </a:solidFill>
              </a:defRPr>
            </a:pPr>
            <a:r>
              <a:rPr sz="990" b="0">
                <a:solidFill>
                  <a:srgbClr val="333333"/>
                </a:solidFill>
              </a:rPr>
              <a:t>시장은 정주화·구조적 인력난·정책 골든타임의 트리플 추진력이 작동하고, 경쟁은 B2B 준법과 B2C 환급을 동시에 쥔 플레이어가 비어 있습니다. PlugNX는 ‘채용 이후의 모든 것’을 양면 데이터로 묶어 이 공백을 선점합니다.</a:t>
            </a:r>
          </a:p>
        </p:txBody>
      </p:sp>
      <p:sp>
        <p:nvSpPr>
          <p:cNvPr id="45" name="source-line">
            <a:extLst xmlns:a="http://schemas.openxmlformats.org/drawingml/2006/main">
              <a:ext uri="{FF2B5EF4-FFF2-40B4-BE49-F238E27FC236}">
                <a16:creationId xmlns:a16="http://schemas.microsoft.com/office/drawing/2014/main" id="{1171D255-B9EC-4E75-8C1E-C4873CFB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10800"/>
            <a:ext cx="720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F042964-935E-4370-9147-1ACCC375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344150"/>
            <a:ext cx="720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7A7A7A"/>
                </a:solidFill>
              </a:defRPr>
            </a:pPr>
            <a:r>
              <a:rPr sz="810" b="0">
                <a:solidFill>
                  <a:srgbClr val="7A7A7A"/>
                </a:solidFill>
              </a:rPr>
              <a:t>가정: 전환율·ARR·요금 등은 사업기획서 v1.0 가정 기반 목표치이며 확정 실적이 아닙니다. · 정책 분류 주의: 본 요약의 시장 해석은 법무부 「2030 이민정책 미래전략」을 PlugNX가 민간 사업기회로 재해석한 것입니다. · 비자·환급·세무 판단은 참고 정보로 전문가 검증과 최신 법령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984009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2026-06-25T09:05:08.0940000Z</dcterms:created>
  <dcterms:modified xsi:type="dcterms:W3CDTF">2026-06-25T09:05:08.0940000Z</dcterms:modified>
</coreProperties>
</file>